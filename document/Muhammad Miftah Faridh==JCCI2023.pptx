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8" r:id="rId3"/>
    <p:sldId id="257" r:id="rId4"/>
    <p:sldId id="259" r:id="rId5"/>
    <p:sldId id="260" r:id="rId6"/>
    <p:sldId id="265" r:id="rId7"/>
    <p:sldId id="274" r:id="rId8"/>
    <p:sldId id="275" r:id="rId9"/>
    <p:sldId id="276" r:id="rId10"/>
    <p:sldId id="277" r:id="rId11"/>
    <p:sldId id="278" r:id="rId12"/>
    <p:sldId id="272" r:id="rId13"/>
    <p:sldId id="262" r:id="rId14"/>
    <p:sldId id="263" r:id="rId15"/>
    <p:sldId id="273"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F927C6-88F1-4267-A6DA-2C822A42AF47}" type="doc">
      <dgm:prSet loTypeId="urn:microsoft.com/office/officeart/2005/8/layout/hProcess9" loCatId="process" qsTypeId="urn:microsoft.com/office/officeart/2005/8/quickstyle/simple1" qsCatId="simple" csTypeId="urn:microsoft.com/office/officeart/2005/8/colors/accent1_2" csCatId="accent1" phldr="1"/>
      <dgm:spPr/>
    </dgm:pt>
    <dgm:pt modelId="{60C11FAA-D68A-48C9-B78C-EBD2D1ED0241}">
      <dgm:prSet phldrT="[Text]"/>
      <dgm:spPr/>
      <dgm:t>
        <a:bodyPr/>
        <a:lstStyle/>
        <a:p>
          <a:r>
            <a:rPr lang="en-US" dirty="0"/>
            <a:t>Weather &amp; Energy Data</a:t>
          </a:r>
        </a:p>
      </dgm:t>
    </dgm:pt>
    <dgm:pt modelId="{1D98507F-7CBC-4922-B9D1-D837AEEBD702}" type="parTrans" cxnId="{F755B6C8-AC83-40F6-9E55-630C7E17F9BE}">
      <dgm:prSet/>
      <dgm:spPr/>
      <dgm:t>
        <a:bodyPr/>
        <a:lstStyle/>
        <a:p>
          <a:endParaRPr lang="en-US"/>
        </a:p>
      </dgm:t>
    </dgm:pt>
    <dgm:pt modelId="{B028D761-0834-4C4A-ADC2-D1F23D8009DC}" type="sibTrans" cxnId="{F755B6C8-AC83-40F6-9E55-630C7E17F9BE}">
      <dgm:prSet/>
      <dgm:spPr/>
      <dgm:t>
        <a:bodyPr/>
        <a:lstStyle/>
        <a:p>
          <a:endParaRPr lang="en-US"/>
        </a:p>
      </dgm:t>
    </dgm:pt>
    <dgm:pt modelId="{27CEA71A-04F7-41D7-AB9D-999A66123035}">
      <dgm:prSet phldrT="[Text]"/>
      <dgm:spPr/>
      <dgm:t>
        <a:bodyPr/>
        <a:lstStyle/>
        <a:p>
          <a:r>
            <a:rPr lang="en-US" dirty="0"/>
            <a:t>Comparison Model</a:t>
          </a:r>
        </a:p>
      </dgm:t>
    </dgm:pt>
    <dgm:pt modelId="{2699C68D-7F41-42F9-BFCE-793153F355EE}" type="parTrans" cxnId="{E12FFB9C-0BAD-4FFD-97D6-98E2571595FB}">
      <dgm:prSet/>
      <dgm:spPr/>
      <dgm:t>
        <a:bodyPr/>
        <a:lstStyle/>
        <a:p>
          <a:endParaRPr lang="en-US"/>
        </a:p>
      </dgm:t>
    </dgm:pt>
    <dgm:pt modelId="{CDA7A307-40B8-4BD6-80F6-EC44CB00C697}" type="sibTrans" cxnId="{E12FFB9C-0BAD-4FFD-97D6-98E2571595FB}">
      <dgm:prSet/>
      <dgm:spPr/>
      <dgm:t>
        <a:bodyPr/>
        <a:lstStyle/>
        <a:p>
          <a:endParaRPr lang="en-US"/>
        </a:p>
      </dgm:t>
    </dgm:pt>
    <dgm:pt modelId="{FF88E92C-B3F8-4613-9B33-1693C85612B9}">
      <dgm:prSet phldrT="[Text]"/>
      <dgm:spPr/>
      <dgm:t>
        <a:bodyPr/>
        <a:lstStyle/>
        <a:p>
          <a:r>
            <a:rPr lang="en-US" dirty="0"/>
            <a:t>Forecast Model</a:t>
          </a:r>
        </a:p>
      </dgm:t>
    </dgm:pt>
    <dgm:pt modelId="{68D87F2F-CA86-4A08-9563-3FA088FE0F5D}" type="sibTrans" cxnId="{14A79353-3584-4468-AB8A-CD29C6139CBD}">
      <dgm:prSet/>
      <dgm:spPr/>
      <dgm:t>
        <a:bodyPr/>
        <a:lstStyle/>
        <a:p>
          <a:endParaRPr lang="en-US"/>
        </a:p>
      </dgm:t>
    </dgm:pt>
    <dgm:pt modelId="{CA7F3CE3-D956-4C72-B5EF-B3DF41BCCFD1}" type="parTrans" cxnId="{14A79353-3584-4468-AB8A-CD29C6139CBD}">
      <dgm:prSet/>
      <dgm:spPr/>
      <dgm:t>
        <a:bodyPr/>
        <a:lstStyle/>
        <a:p>
          <a:endParaRPr lang="en-US"/>
        </a:p>
      </dgm:t>
    </dgm:pt>
    <dgm:pt modelId="{17C6D758-4CFD-4A2B-BB7F-5D7DE2DC000A}" type="pres">
      <dgm:prSet presAssocID="{2CF927C6-88F1-4267-A6DA-2C822A42AF47}" presName="CompostProcess" presStyleCnt="0">
        <dgm:presLayoutVars>
          <dgm:dir/>
          <dgm:resizeHandles val="exact"/>
        </dgm:presLayoutVars>
      </dgm:prSet>
      <dgm:spPr/>
    </dgm:pt>
    <dgm:pt modelId="{DB05E06D-678C-4CDB-A4D0-D166E0C05A4D}" type="pres">
      <dgm:prSet presAssocID="{2CF927C6-88F1-4267-A6DA-2C822A42AF47}" presName="arrow" presStyleLbl="bgShp" presStyleIdx="0" presStyleCnt="1"/>
      <dgm:spPr/>
    </dgm:pt>
    <dgm:pt modelId="{2D5BAECB-7CD7-4B27-A9AA-53BD5424660B}" type="pres">
      <dgm:prSet presAssocID="{2CF927C6-88F1-4267-A6DA-2C822A42AF47}" presName="linearProcess" presStyleCnt="0"/>
      <dgm:spPr/>
    </dgm:pt>
    <dgm:pt modelId="{5721BE87-A9A2-40E8-AE31-54768F478623}" type="pres">
      <dgm:prSet presAssocID="{60C11FAA-D68A-48C9-B78C-EBD2D1ED0241}" presName="textNode" presStyleLbl="node1" presStyleIdx="0" presStyleCnt="3">
        <dgm:presLayoutVars>
          <dgm:bulletEnabled val="1"/>
        </dgm:presLayoutVars>
      </dgm:prSet>
      <dgm:spPr/>
    </dgm:pt>
    <dgm:pt modelId="{8FE8A1A1-B3A9-4C52-8D52-FD0209CC9CFD}" type="pres">
      <dgm:prSet presAssocID="{B028D761-0834-4C4A-ADC2-D1F23D8009DC}" presName="sibTrans" presStyleCnt="0"/>
      <dgm:spPr/>
    </dgm:pt>
    <dgm:pt modelId="{8A2D99CD-09BB-41F7-9350-F4944190EF5B}" type="pres">
      <dgm:prSet presAssocID="{FF88E92C-B3F8-4613-9B33-1693C85612B9}" presName="textNode" presStyleLbl="node1" presStyleIdx="1" presStyleCnt="3">
        <dgm:presLayoutVars>
          <dgm:bulletEnabled val="1"/>
        </dgm:presLayoutVars>
      </dgm:prSet>
      <dgm:spPr/>
    </dgm:pt>
    <dgm:pt modelId="{445B30F6-2F92-40F0-9BDC-18531DAC6E7A}" type="pres">
      <dgm:prSet presAssocID="{68D87F2F-CA86-4A08-9563-3FA088FE0F5D}" presName="sibTrans" presStyleCnt="0"/>
      <dgm:spPr/>
    </dgm:pt>
    <dgm:pt modelId="{9CBB97C6-1C83-4062-AE30-AC438F481460}" type="pres">
      <dgm:prSet presAssocID="{27CEA71A-04F7-41D7-AB9D-999A66123035}" presName="textNode" presStyleLbl="node1" presStyleIdx="2" presStyleCnt="3">
        <dgm:presLayoutVars>
          <dgm:bulletEnabled val="1"/>
        </dgm:presLayoutVars>
      </dgm:prSet>
      <dgm:spPr/>
    </dgm:pt>
  </dgm:ptLst>
  <dgm:cxnLst>
    <dgm:cxn modelId="{94AB4C2C-CED2-4AC6-92D8-294D9DB73847}" type="presOf" srcId="{2CF927C6-88F1-4267-A6DA-2C822A42AF47}" destId="{17C6D758-4CFD-4A2B-BB7F-5D7DE2DC000A}" srcOrd="0" destOrd="0" presId="urn:microsoft.com/office/officeart/2005/8/layout/hProcess9"/>
    <dgm:cxn modelId="{14A79353-3584-4468-AB8A-CD29C6139CBD}" srcId="{2CF927C6-88F1-4267-A6DA-2C822A42AF47}" destId="{FF88E92C-B3F8-4613-9B33-1693C85612B9}" srcOrd="1" destOrd="0" parTransId="{CA7F3CE3-D956-4C72-B5EF-B3DF41BCCFD1}" sibTransId="{68D87F2F-CA86-4A08-9563-3FA088FE0F5D}"/>
    <dgm:cxn modelId="{DF363593-C6B0-487C-B409-57B5079F9271}" type="presOf" srcId="{FF88E92C-B3F8-4613-9B33-1693C85612B9}" destId="{8A2D99CD-09BB-41F7-9350-F4944190EF5B}" srcOrd="0" destOrd="0" presId="urn:microsoft.com/office/officeart/2005/8/layout/hProcess9"/>
    <dgm:cxn modelId="{E12FFB9C-0BAD-4FFD-97D6-98E2571595FB}" srcId="{2CF927C6-88F1-4267-A6DA-2C822A42AF47}" destId="{27CEA71A-04F7-41D7-AB9D-999A66123035}" srcOrd="2" destOrd="0" parTransId="{2699C68D-7F41-42F9-BFCE-793153F355EE}" sibTransId="{CDA7A307-40B8-4BD6-80F6-EC44CB00C697}"/>
    <dgm:cxn modelId="{6BE410A8-F9E9-4998-A5DA-DB78A867885E}" type="presOf" srcId="{60C11FAA-D68A-48C9-B78C-EBD2D1ED0241}" destId="{5721BE87-A9A2-40E8-AE31-54768F478623}" srcOrd="0" destOrd="0" presId="urn:microsoft.com/office/officeart/2005/8/layout/hProcess9"/>
    <dgm:cxn modelId="{F755B6C8-AC83-40F6-9E55-630C7E17F9BE}" srcId="{2CF927C6-88F1-4267-A6DA-2C822A42AF47}" destId="{60C11FAA-D68A-48C9-B78C-EBD2D1ED0241}" srcOrd="0" destOrd="0" parTransId="{1D98507F-7CBC-4922-B9D1-D837AEEBD702}" sibTransId="{B028D761-0834-4C4A-ADC2-D1F23D8009DC}"/>
    <dgm:cxn modelId="{C434C6F4-6ACB-4F59-825E-4ACA06D0CCB9}" type="presOf" srcId="{27CEA71A-04F7-41D7-AB9D-999A66123035}" destId="{9CBB97C6-1C83-4062-AE30-AC438F481460}" srcOrd="0" destOrd="0" presId="urn:microsoft.com/office/officeart/2005/8/layout/hProcess9"/>
    <dgm:cxn modelId="{64D227C9-0490-4D0C-A279-C4D3A0F0CAD7}" type="presParOf" srcId="{17C6D758-4CFD-4A2B-BB7F-5D7DE2DC000A}" destId="{DB05E06D-678C-4CDB-A4D0-D166E0C05A4D}" srcOrd="0" destOrd="0" presId="urn:microsoft.com/office/officeart/2005/8/layout/hProcess9"/>
    <dgm:cxn modelId="{E9A33519-ACDC-404F-95CD-AAC6BCE9A819}" type="presParOf" srcId="{17C6D758-4CFD-4A2B-BB7F-5D7DE2DC000A}" destId="{2D5BAECB-7CD7-4B27-A9AA-53BD5424660B}" srcOrd="1" destOrd="0" presId="urn:microsoft.com/office/officeart/2005/8/layout/hProcess9"/>
    <dgm:cxn modelId="{787A6217-FFF6-4294-AC86-4D1A3ECDFBFB}" type="presParOf" srcId="{2D5BAECB-7CD7-4B27-A9AA-53BD5424660B}" destId="{5721BE87-A9A2-40E8-AE31-54768F478623}" srcOrd="0" destOrd="0" presId="urn:microsoft.com/office/officeart/2005/8/layout/hProcess9"/>
    <dgm:cxn modelId="{F9034ECF-5C3F-4BA0-84E9-E2751C60735D}" type="presParOf" srcId="{2D5BAECB-7CD7-4B27-A9AA-53BD5424660B}" destId="{8FE8A1A1-B3A9-4C52-8D52-FD0209CC9CFD}" srcOrd="1" destOrd="0" presId="urn:microsoft.com/office/officeart/2005/8/layout/hProcess9"/>
    <dgm:cxn modelId="{2F149203-A81C-447C-8733-6D8D171455B4}" type="presParOf" srcId="{2D5BAECB-7CD7-4B27-A9AA-53BD5424660B}" destId="{8A2D99CD-09BB-41F7-9350-F4944190EF5B}" srcOrd="2" destOrd="0" presId="urn:microsoft.com/office/officeart/2005/8/layout/hProcess9"/>
    <dgm:cxn modelId="{E93DAC83-3969-4BDC-8A5F-F405F71B71B5}" type="presParOf" srcId="{2D5BAECB-7CD7-4B27-A9AA-53BD5424660B}" destId="{445B30F6-2F92-40F0-9BDC-18531DAC6E7A}" srcOrd="3" destOrd="0" presId="urn:microsoft.com/office/officeart/2005/8/layout/hProcess9"/>
    <dgm:cxn modelId="{5576E1C7-1399-4F05-90AB-6B1FA8946791}" type="presParOf" srcId="{2D5BAECB-7CD7-4B27-A9AA-53BD5424660B}" destId="{9CBB97C6-1C83-4062-AE30-AC438F481460}"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05E06D-678C-4CDB-A4D0-D166E0C05A4D}">
      <dsp:nvSpPr>
        <dsp:cNvPr id="0" name=""/>
        <dsp:cNvSpPr/>
      </dsp:nvSpPr>
      <dsp:spPr>
        <a:xfrm>
          <a:off x="820705" y="0"/>
          <a:ext cx="9301328" cy="17401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21BE87-A9A2-40E8-AE31-54768F478623}">
      <dsp:nvSpPr>
        <dsp:cNvPr id="0" name=""/>
        <dsp:cNvSpPr/>
      </dsp:nvSpPr>
      <dsp:spPr>
        <a:xfrm>
          <a:off x="367" y="522030"/>
          <a:ext cx="3498083" cy="69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Weather &amp; Energy Data</a:t>
          </a:r>
        </a:p>
      </dsp:txBody>
      <dsp:txXfrm>
        <a:off x="34345" y="556008"/>
        <a:ext cx="3430127" cy="628084"/>
      </dsp:txXfrm>
    </dsp:sp>
    <dsp:sp modelId="{8A2D99CD-09BB-41F7-9350-F4944190EF5B}">
      <dsp:nvSpPr>
        <dsp:cNvPr id="0" name=""/>
        <dsp:cNvSpPr/>
      </dsp:nvSpPr>
      <dsp:spPr>
        <a:xfrm>
          <a:off x="3722327" y="522030"/>
          <a:ext cx="3498083" cy="69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Forecast Model</a:t>
          </a:r>
        </a:p>
      </dsp:txBody>
      <dsp:txXfrm>
        <a:off x="3756305" y="556008"/>
        <a:ext cx="3430127" cy="628084"/>
      </dsp:txXfrm>
    </dsp:sp>
    <dsp:sp modelId="{9CBB97C6-1C83-4062-AE30-AC438F481460}">
      <dsp:nvSpPr>
        <dsp:cNvPr id="0" name=""/>
        <dsp:cNvSpPr/>
      </dsp:nvSpPr>
      <dsp:spPr>
        <a:xfrm>
          <a:off x="7444288" y="522030"/>
          <a:ext cx="3498083" cy="69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Comparison Model</a:t>
          </a:r>
        </a:p>
      </dsp:txBody>
      <dsp:txXfrm>
        <a:off x="7478266" y="556008"/>
        <a:ext cx="3430127" cy="62808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FF37AB-1278-4555-8E1E-629030646749}" type="datetimeFigureOut">
              <a:rPr lang="en-US" smtClean="0"/>
              <a:t>4/4/2023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6AB29C-F250-4B3C-8A16-A0D320D2AA8A}" type="slidenum">
              <a:rPr lang="en-US" smtClean="0"/>
              <a:t>‹#›</a:t>
            </a:fld>
            <a:endParaRPr lang="en-US"/>
          </a:p>
        </p:txBody>
      </p:sp>
    </p:spTree>
    <p:extLst>
      <p:ext uri="{BB962C8B-B14F-4D97-AF65-F5344CB8AC3E}">
        <p14:creationId xmlns:p14="http://schemas.microsoft.com/office/powerpoint/2010/main" val="1168871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FE5BA-1B4D-154D-FB29-34F20F8220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9BDB0C-FA6D-F347-CDB2-970F712871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958DA8-7F34-583F-3251-84008036CB9E}"/>
              </a:ext>
            </a:extLst>
          </p:cNvPr>
          <p:cNvSpPr>
            <a:spLocks noGrp="1"/>
          </p:cNvSpPr>
          <p:nvPr>
            <p:ph type="dt" sz="half" idx="10"/>
          </p:nvPr>
        </p:nvSpPr>
        <p:spPr/>
        <p:txBody>
          <a:bodyPr/>
          <a:lstStyle/>
          <a:p>
            <a:fld id="{373F947A-B4DE-48EE-8D7C-4BB9A5B7195B}" type="datetime1">
              <a:rPr lang="en-US" smtClean="0"/>
              <a:t>4/4/2023</a:t>
            </a:fld>
            <a:endParaRPr lang="en-US"/>
          </a:p>
        </p:txBody>
      </p:sp>
      <p:sp>
        <p:nvSpPr>
          <p:cNvPr id="5" name="Footer Placeholder 4">
            <a:extLst>
              <a:ext uri="{FF2B5EF4-FFF2-40B4-BE49-F238E27FC236}">
                <a16:creationId xmlns:a16="http://schemas.microsoft.com/office/drawing/2014/main" id="{E816D5C5-8DCC-A7A7-24D8-48CEA0E18D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02B137-F874-46B5-B8F2-FC1AD91CC80E}"/>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977877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77DB7-6C4D-27CE-DEB8-51CD42F4E9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5EE3AF-505D-91E5-4BA6-4895A4352D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6BB2F0-ABF1-D656-34F4-3D674C816ED1}"/>
              </a:ext>
            </a:extLst>
          </p:cNvPr>
          <p:cNvSpPr>
            <a:spLocks noGrp="1"/>
          </p:cNvSpPr>
          <p:nvPr>
            <p:ph type="dt" sz="half" idx="10"/>
          </p:nvPr>
        </p:nvSpPr>
        <p:spPr/>
        <p:txBody>
          <a:bodyPr/>
          <a:lstStyle/>
          <a:p>
            <a:fld id="{BF4C6F01-8282-4E98-8BBB-1D4B0654D068}" type="datetime1">
              <a:rPr lang="en-US" smtClean="0"/>
              <a:t>4/4/2023</a:t>
            </a:fld>
            <a:endParaRPr lang="en-US"/>
          </a:p>
        </p:txBody>
      </p:sp>
      <p:sp>
        <p:nvSpPr>
          <p:cNvPr id="5" name="Footer Placeholder 4">
            <a:extLst>
              <a:ext uri="{FF2B5EF4-FFF2-40B4-BE49-F238E27FC236}">
                <a16:creationId xmlns:a16="http://schemas.microsoft.com/office/drawing/2014/main" id="{5C48A4FD-638A-AAB1-22E0-07B4351C53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0FA8E7-D6B6-4653-2DAB-46F48EEE1EB1}"/>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1094854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CE366-1029-1937-B238-FE98E0A201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37F1B5-C2A0-7DBC-3A4C-01E97F4936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ADA07D-D43F-4CF5-25D4-C92975220430}"/>
              </a:ext>
            </a:extLst>
          </p:cNvPr>
          <p:cNvSpPr>
            <a:spLocks noGrp="1"/>
          </p:cNvSpPr>
          <p:nvPr>
            <p:ph type="dt" sz="half" idx="10"/>
          </p:nvPr>
        </p:nvSpPr>
        <p:spPr/>
        <p:txBody>
          <a:bodyPr/>
          <a:lstStyle/>
          <a:p>
            <a:fld id="{4DA74900-59BC-4422-846B-D368E7DA1F88}" type="datetime1">
              <a:rPr lang="en-US" smtClean="0"/>
              <a:t>4/4/2023</a:t>
            </a:fld>
            <a:endParaRPr lang="en-US"/>
          </a:p>
        </p:txBody>
      </p:sp>
      <p:sp>
        <p:nvSpPr>
          <p:cNvPr id="5" name="Footer Placeholder 4">
            <a:extLst>
              <a:ext uri="{FF2B5EF4-FFF2-40B4-BE49-F238E27FC236}">
                <a16:creationId xmlns:a16="http://schemas.microsoft.com/office/drawing/2014/main" id="{39C72B2E-5F41-4523-FD6C-1E1E33F396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02B142-2268-CD04-B923-EB36022D204B}"/>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2833026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0DF69-3342-C92E-242D-E962CD3274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996198-F976-8409-70B2-274382474F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6EEDDB-4E68-9A6A-10F5-6390C74991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55700A-D153-3862-7187-5544A5644A57}"/>
              </a:ext>
            </a:extLst>
          </p:cNvPr>
          <p:cNvSpPr>
            <a:spLocks noGrp="1"/>
          </p:cNvSpPr>
          <p:nvPr>
            <p:ph type="dt" sz="half" idx="10"/>
          </p:nvPr>
        </p:nvSpPr>
        <p:spPr/>
        <p:txBody>
          <a:bodyPr/>
          <a:lstStyle/>
          <a:p>
            <a:fld id="{C3949FD8-F76C-4334-8F67-5261DAB8283B}" type="datetime1">
              <a:rPr lang="en-US" smtClean="0"/>
              <a:t>4/4/2023</a:t>
            </a:fld>
            <a:endParaRPr lang="en-US"/>
          </a:p>
        </p:txBody>
      </p:sp>
      <p:sp>
        <p:nvSpPr>
          <p:cNvPr id="6" name="Footer Placeholder 5">
            <a:extLst>
              <a:ext uri="{FF2B5EF4-FFF2-40B4-BE49-F238E27FC236}">
                <a16:creationId xmlns:a16="http://schemas.microsoft.com/office/drawing/2014/main" id="{5C823884-9429-C8D9-F443-6DA209F92A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2FE441-0EA5-F268-7E51-A4640FF954B5}"/>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4208121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5246-4CAB-9400-7486-B00F9D0875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B428216-44FF-C380-A97E-B753EF4633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9366E2-B011-F94E-424F-5FB14ED795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A362507-D0E6-74FA-5419-A9B802DDF5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8AE93D-342E-CF5B-84B6-ED70A0F6C9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80ADCC-A388-6A44-DE80-E6D3454F3F7A}"/>
              </a:ext>
            </a:extLst>
          </p:cNvPr>
          <p:cNvSpPr>
            <a:spLocks noGrp="1"/>
          </p:cNvSpPr>
          <p:nvPr>
            <p:ph type="dt" sz="half" idx="10"/>
          </p:nvPr>
        </p:nvSpPr>
        <p:spPr/>
        <p:txBody>
          <a:bodyPr/>
          <a:lstStyle/>
          <a:p>
            <a:fld id="{FD3EE7BC-1A30-4086-BB3C-9A5B74FB52CD}" type="datetime1">
              <a:rPr lang="en-US" smtClean="0"/>
              <a:t>4/4/2023</a:t>
            </a:fld>
            <a:endParaRPr lang="en-US"/>
          </a:p>
        </p:txBody>
      </p:sp>
      <p:sp>
        <p:nvSpPr>
          <p:cNvPr id="8" name="Footer Placeholder 7">
            <a:extLst>
              <a:ext uri="{FF2B5EF4-FFF2-40B4-BE49-F238E27FC236}">
                <a16:creationId xmlns:a16="http://schemas.microsoft.com/office/drawing/2014/main" id="{181702FB-A43C-DBE6-8481-90FB465CEF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5420C4-2094-5F85-3BF3-57DD6F0B0566}"/>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536340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00C17-0171-D302-7C73-F6092BA021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920371-CF05-7091-8E96-CE119D957484}"/>
              </a:ext>
            </a:extLst>
          </p:cNvPr>
          <p:cNvSpPr>
            <a:spLocks noGrp="1"/>
          </p:cNvSpPr>
          <p:nvPr>
            <p:ph type="dt" sz="half" idx="10"/>
          </p:nvPr>
        </p:nvSpPr>
        <p:spPr/>
        <p:txBody>
          <a:bodyPr/>
          <a:lstStyle/>
          <a:p>
            <a:fld id="{7240562C-9A4D-4424-AA72-DCA8EAC67DF2}" type="datetime1">
              <a:rPr lang="en-US" smtClean="0"/>
              <a:t>4/4/2023</a:t>
            </a:fld>
            <a:endParaRPr lang="en-US"/>
          </a:p>
        </p:txBody>
      </p:sp>
      <p:sp>
        <p:nvSpPr>
          <p:cNvPr id="4" name="Footer Placeholder 3">
            <a:extLst>
              <a:ext uri="{FF2B5EF4-FFF2-40B4-BE49-F238E27FC236}">
                <a16:creationId xmlns:a16="http://schemas.microsoft.com/office/drawing/2014/main" id="{9B6E4454-12CF-F027-DD2C-F9E46EF6515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61EA62-3507-891B-7608-9FB4204F70B1}"/>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3162578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4E1DE3-6E5A-D756-E271-4602C12BB42A}"/>
              </a:ext>
            </a:extLst>
          </p:cNvPr>
          <p:cNvSpPr>
            <a:spLocks noGrp="1"/>
          </p:cNvSpPr>
          <p:nvPr>
            <p:ph type="dt" sz="half" idx="10"/>
          </p:nvPr>
        </p:nvSpPr>
        <p:spPr/>
        <p:txBody>
          <a:bodyPr/>
          <a:lstStyle/>
          <a:p>
            <a:fld id="{E2DCB292-5FFB-4199-8B72-18CE4DC27BE9}" type="datetime1">
              <a:rPr lang="en-US" smtClean="0"/>
              <a:t>4/4/2023</a:t>
            </a:fld>
            <a:endParaRPr lang="en-US"/>
          </a:p>
        </p:txBody>
      </p:sp>
      <p:sp>
        <p:nvSpPr>
          <p:cNvPr id="3" name="Footer Placeholder 2">
            <a:extLst>
              <a:ext uri="{FF2B5EF4-FFF2-40B4-BE49-F238E27FC236}">
                <a16:creationId xmlns:a16="http://schemas.microsoft.com/office/drawing/2014/main" id="{51BB45B0-024A-E4EA-EAD9-DAE8CDA02E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87E535-4832-7AA7-58E3-8FE4DEEE88C0}"/>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901455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68A75-7425-3758-A005-A8FF23DC2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CA27C2-8AAA-130E-DB3D-08614190B2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8BE9BD-F876-3645-5199-5AACEE975C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355C5D-77F2-F379-D38D-ED086388C9B9}"/>
              </a:ext>
            </a:extLst>
          </p:cNvPr>
          <p:cNvSpPr>
            <a:spLocks noGrp="1"/>
          </p:cNvSpPr>
          <p:nvPr>
            <p:ph type="dt" sz="half" idx="10"/>
          </p:nvPr>
        </p:nvSpPr>
        <p:spPr/>
        <p:txBody>
          <a:bodyPr/>
          <a:lstStyle/>
          <a:p>
            <a:fld id="{7A7481A3-5B6C-4EB6-A3A1-4996FCA10DC0}" type="datetime1">
              <a:rPr lang="en-US" smtClean="0"/>
              <a:t>4/4/2023</a:t>
            </a:fld>
            <a:endParaRPr lang="en-US"/>
          </a:p>
        </p:txBody>
      </p:sp>
      <p:sp>
        <p:nvSpPr>
          <p:cNvPr id="6" name="Footer Placeholder 5">
            <a:extLst>
              <a:ext uri="{FF2B5EF4-FFF2-40B4-BE49-F238E27FC236}">
                <a16:creationId xmlns:a16="http://schemas.microsoft.com/office/drawing/2014/main" id="{EDC1874D-1262-F458-A13C-10B42CEFA4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8C51B7-E01A-5454-7F25-B24C6F7D6396}"/>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2107285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3B2B9-E636-653F-6D61-081F93F6AA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88A6FD3-0BF8-1481-A6C5-4AD05BD99D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735434F-27F5-FC6E-6851-91167A377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DC0108-1468-8777-BADF-FCCA595C033A}"/>
              </a:ext>
            </a:extLst>
          </p:cNvPr>
          <p:cNvSpPr>
            <a:spLocks noGrp="1"/>
          </p:cNvSpPr>
          <p:nvPr>
            <p:ph type="dt" sz="half" idx="10"/>
          </p:nvPr>
        </p:nvSpPr>
        <p:spPr/>
        <p:txBody>
          <a:bodyPr/>
          <a:lstStyle/>
          <a:p>
            <a:fld id="{E405CF91-A7C1-47F6-886B-9E8209CA9E7C}" type="datetime1">
              <a:rPr lang="en-US" smtClean="0"/>
              <a:t>4/4/2023</a:t>
            </a:fld>
            <a:endParaRPr lang="en-US"/>
          </a:p>
        </p:txBody>
      </p:sp>
      <p:sp>
        <p:nvSpPr>
          <p:cNvPr id="6" name="Footer Placeholder 5">
            <a:extLst>
              <a:ext uri="{FF2B5EF4-FFF2-40B4-BE49-F238E27FC236}">
                <a16:creationId xmlns:a16="http://schemas.microsoft.com/office/drawing/2014/main" id="{42900524-C4BE-3765-8A6B-B0468695CC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321122-FA77-4CD8-A9F7-808A573C7912}"/>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1336937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C8012-0BA6-7963-4257-EB5AC164262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55EA36-6A54-10C4-D588-EC622B479A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9B5656-462C-49AC-93AB-17970C2E9EB4}"/>
              </a:ext>
            </a:extLst>
          </p:cNvPr>
          <p:cNvSpPr>
            <a:spLocks noGrp="1"/>
          </p:cNvSpPr>
          <p:nvPr>
            <p:ph type="dt" sz="half" idx="10"/>
          </p:nvPr>
        </p:nvSpPr>
        <p:spPr/>
        <p:txBody>
          <a:bodyPr/>
          <a:lstStyle/>
          <a:p>
            <a:fld id="{6DF1D984-3EC5-48C3-B2BF-F67012460C5F}" type="datetime1">
              <a:rPr lang="en-US" smtClean="0"/>
              <a:t>4/4/2023</a:t>
            </a:fld>
            <a:endParaRPr lang="en-US"/>
          </a:p>
        </p:txBody>
      </p:sp>
      <p:sp>
        <p:nvSpPr>
          <p:cNvPr id="5" name="Footer Placeholder 4">
            <a:extLst>
              <a:ext uri="{FF2B5EF4-FFF2-40B4-BE49-F238E27FC236}">
                <a16:creationId xmlns:a16="http://schemas.microsoft.com/office/drawing/2014/main" id="{1F363165-A9FA-25E7-BDD5-5C1F2F3378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A41D12-F514-76F5-9B5F-0E8E6AD4AEE3}"/>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2227629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4CA5C2-B023-B862-D83B-FB34EED036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C943EE-86CA-F32C-5276-FA648CE6B2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811FCF-6083-FB8F-86FD-3AB92F191E84}"/>
              </a:ext>
            </a:extLst>
          </p:cNvPr>
          <p:cNvSpPr>
            <a:spLocks noGrp="1"/>
          </p:cNvSpPr>
          <p:nvPr>
            <p:ph type="dt" sz="half" idx="10"/>
          </p:nvPr>
        </p:nvSpPr>
        <p:spPr/>
        <p:txBody>
          <a:bodyPr/>
          <a:lstStyle/>
          <a:p>
            <a:fld id="{9697B614-E20E-49D6-969D-0F733D373B69}" type="datetime1">
              <a:rPr lang="en-US" smtClean="0"/>
              <a:t>4/4/2023</a:t>
            </a:fld>
            <a:endParaRPr lang="en-US"/>
          </a:p>
        </p:txBody>
      </p:sp>
      <p:sp>
        <p:nvSpPr>
          <p:cNvPr id="5" name="Footer Placeholder 4">
            <a:extLst>
              <a:ext uri="{FF2B5EF4-FFF2-40B4-BE49-F238E27FC236}">
                <a16:creationId xmlns:a16="http://schemas.microsoft.com/office/drawing/2014/main" id="{E190D6C3-BD3F-BEB4-AC35-190CF57463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F859CE-1EE2-2413-5926-A31E2529D5DD}"/>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3296423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978265-644F-B76D-05A5-B65FA12733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256901-B28B-D58F-E19E-9479373D1A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01BFCE-3453-545F-8735-1A3C7E8A26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F83ACE-CCB7-4256-8B11-BBA06764713F}" type="datetime1">
              <a:rPr lang="en-US" smtClean="0"/>
              <a:t>4/4/2023</a:t>
            </a:fld>
            <a:endParaRPr lang="en-US"/>
          </a:p>
        </p:txBody>
      </p:sp>
      <p:sp>
        <p:nvSpPr>
          <p:cNvPr id="5" name="Footer Placeholder 4">
            <a:extLst>
              <a:ext uri="{FF2B5EF4-FFF2-40B4-BE49-F238E27FC236}">
                <a16:creationId xmlns:a16="http://schemas.microsoft.com/office/drawing/2014/main" id="{F72D1AAD-40B7-BDE4-724E-97B91A330E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506E292-C68D-A782-B260-24462FACA9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E5B538-B59D-40BE-A71D-808D1A583C60}" type="slidenum">
              <a:rPr lang="en-US" smtClean="0"/>
              <a:t>‹#›</a:t>
            </a:fld>
            <a:endParaRPr lang="en-US"/>
          </a:p>
        </p:txBody>
      </p:sp>
    </p:spTree>
    <p:extLst>
      <p:ext uri="{BB962C8B-B14F-4D97-AF65-F5344CB8AC3E}">
        <p14:creationId xmlns:p14="http://schemas.microsoft.com/office/powerpoint/2010/main" val="2271460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6.gif"/><Relationship Id="rId4" Type="http://schemas.openxmlformats.org/officeDocument/2006/relationships/image" Target="../media/image15.gif"/></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3">
            <a:extLst>
              <a:ext uri="{FF2B5EF4-FFF2-40B4-BE49-F238E27FC236}">
                <a16:creationId xmlns:a16="http://schemas.microsoft.com/office/drawing/2014/main" id="{ACD80261-E972-3BB6-6D3D-30DE1DE49B2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073" t="-2881" r="14427" b="-1"/>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6BC40EBF-45F0-1B90-3EC4-8372A3FBA795}"/>
              </a:ext>
            </a:extLst>
          </p:cNvPr>
          <p:cNvSpPr>
            <a:spLocks noGrp="1"/>
          </p:cNvSpPr>
          <p:nvPr>
            <p:ph type="ctrTitle"/>
          </p:nvPr>
        </p:nvSpPr>
        <p:spPr>
          <a:xfrm>
            <a:off x="479571" y="809280"/>
            <a:ext cx="11232858" cy="2387600"/>
          </a:xfrm>
        </p:spPr>
        <p:txBody>
          <a:bodyPr>
            <a:normAutofit/>
          </a:bodyPr>
          <a:lstStyle/>
          <a:p>
            <a:r>
              <a:rPr lang="en-US" sz="4400" dirty="0">
                <a:latin typeface="Malgun Gothic" panose="020B0503020000020004" pitchFamily="34" charset="-127"/>
                <a:ea typeface="Malgun Gothic" panose="020B0503020000020004" pitchFamily="34" charset="-127"/>
              </a:rPr>
              <a:t> API Development for Forecasting Solar Power Generation Using Weather Data</a:t>
            </a:r>
          </a:p>
        </p:txBody>
      </p:sp>
      <p:sp>
        <p:nvSpPr>
          <p:cNvPr id="3" name="Subtitle 2">
            <a:extLst>
              <a:ext uri="{FF2B5EF4-FFF2-40B4-BE49-F238E27FC236}">
                <a16:creationId xmlns:a16="http://schemas.microsoft.com/office/drawing/2014/main" id="{1CF3A180-139B-C0C1-37AA-9EB2155EC869}"/>
              </a:ext>
            </a:extLst>
          </p:cNvPr>
          <p:cNvSpPr>
            <a:spLocks noGrp="1"/>
          </p:cNvSpPr>
          <p:nvPr>
            <p:ph type="subTitle" idx="1"/>
          </p:nvPr>
        </p:nvSpPr>
        <p:spPr>
          <a:xfrm>
            <a:off x="1705769" y="3602683"/>
            <a:ext cx="9144000" cy="1687774"/>
          </a:xfrm>
        </p:spPr>
        <p:txBody>
          <a:bodyPr>
            <a:normAutofit fontScale="85000" lnSpcReduction="20000"/>
          </a:bodyPr>
          <a:lstStyle/>
          <a:p>
            <a:pPr>
              <a:lnSpc>
                <a:spcPct val="120000"/>
              </a:lnSpc>
            </a:pPr>
            <a:r>
              <a:rPr lang="en-US" dirty="0"/>
              <a:t>Presented by :</a:t>
            </a:r>
          </a:p>
          <a:p>
            <a:pPr>
              <a:lnSpc>
                <a:spcPct val="120000"/>
              </a:lnSpc>
            </a:pPr>
            <a:r>
              <a:rPr lang="en-US" dirty="0"/>
              <a:t>Muhammad Miftah Faridh</a:t>
            </a:r>
          </a:p>
          <a:p>
            <a:pPr>
              <a:lnSpc>
                <a:spcPct val="120000"/>
              </a:lnSpc>
            </a:pPr>
            <a:r>
              <a:rPr lang="en-US" dirty="0"/>
              <a:t>Department of Electronics Engineering</a:t>
            </a:r>
          </a:p>
          <a:p>
            <a:r>
              <a:rPr lang="en-US" dirty="0" err="1"/>
              <a:t>Kookmin</a:t>
            </a:r>
            <a:r>
              <a:rPr lang="en-US" dirty="0"/>
              <a:t> University</a:t>
            </a:r>
          </a:p>
        </p:txBody>
      </p:sp>
      <p:pic>
        <p:nvPicPr>
          <p:cNvPr id="4" name="Picture 7" descr="A picture containing food&#10;&#10;Description automatically generated">
            <a:extLst>
              <a:ext uri="{FF2B5EF4-FFF2-40B4-BE49-F238E27FC236}">
                <a16:creationId xmlns:a16="http://schemas.microsoft.com/office/drawing/2014/main" id="{966BAA16-4A80-8687-678C-46B7AC28A79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9727" t="7974" r="12192" b="11621"/>
          <a:stretch>
            <a:fillRect/>
          </a:stretch>
        </p:blipFill>
        <p:spPr bwMode="auto">
          <a:xfrm>
            <a:off x="10849769" y="175450"/>
            <a:ext cx="1008062"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그림 11">
            <a:extLst>
              <a:ext uri="{FF2B5EF4-FFF2-40B4-BE49-F238E27FC236}">
                <a16:creationId xmlns:a16="http://schemas.microsoft.com/office/drawing/2014/main" id="{53FD7E8C-9A0E-9EB7-F397-0BE8D62612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4921" y="347367"/>
            <a:ext cx="2098725" cy="384766"/>
          </a:xfrm>
          <a:prstGeom prst="rect">
            <a:avLst/>
          </a:prstGeom>
        </p:spPr>
      </p:pic>
      <p:sp>
        <p:nvSpPr>
          <p:cNvPr id="6" name="Slide Number Placeholder 5">
            <a:extLst>
              <a:ext uri="{FF2B5EF4-FFF2-40B4-BE49-F238E27FC236}">
                <a16:creationId xmlns:a16="http://schemas.microsoft.com/office/drawing/2014/main" id="{D15BAEB4-EBAD-ACF2-EFCD-7577B77987E2}"/>
              </a:ext>
            </a:extLst>
          </p:cNvPr>
          <p:cNvSpPr>
            <a:spLocks noGrp="1"/>
          </p:cNvSpPr>
          <p:nvPr>
            <p:ph type="sldNum" sz="quarter" idx="12"/>
          </p:nvPr>
        </p:nvSpPr>
        <p:spPr/>
        <p:txBody>
          <a:bodyPr/>
          <a:lstStyle/>
          <a:p>
            <a:fld id="{3FE5B538-B59D-40BE-A71D-808D1A583C60}" type="slidenum">
              <a:rPr lang="en-US" smtClean="0"/>
              <a:t>1</a:t>
            </a:fld>
            <a:endParaRPr lang="en-US"/>
          </a:p>
        </p:txBody>
      </p:sp>
      <p:sp>
        <p:nvSpPr>
          <p:cNvPr id="9" name="TextBox 8">
            <a:extLst>
              <a:ext uri="{FF2B5EF4-FFF2-40B4-BE49-F238E27FC236}">
                <a16:creationId xmlns:a16="http://schemas.microsoft.com/office/drawing/2014/main" id="{69AAA216-D282-364E-AE13-B092CDAE937D}"/>
              </a:ext>
            </a:extLst>
          </p:cNvPr>
          <p:cNvSpPr txBox="1"/>
          <p:nvPr/>
        </p:nvSpPr>
        <p:spPr>
          <a:xfrm>
            <a:off x="2856513" y="3196880"/>
            <a:ext cx="7055238" cy="369332"/>
          </a:xfrm>
          <a:prstGeom prst="rect">
            <a:avLst/>
          </a:prstGeom>
          <a:noFill/>
        </p:spPr>
        <p:txBody>
          <a:bodyPr wrap="square">
            <a:spAutoFit/>
          </a:bodyPr>
          <a:lstStyle/>
          <a:p>
            <a:r>
              <a:rPr lang="en-US" dirty="0"/>
              <a:t>THE 33rd JOINT CONFERENCE ON COMMUNICATIONS AND INFORMATION</a:t>
            </a:r>
          </a:p>
        </p:txBody>
      </p:sp>
    </p:spTree>
    <p:extLst>
      <p:ext uri="{BB962C8B-B14F-4D97-AF65-F5344CB8AC3E}">
        <p14:creationId xmlns:p14="http://schemas.microsoft.com/office/powerpoint/2010/main" val="8489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032270-652E-8F89-BCD5-6E374684740E}"/>
              </a:ext>
            </a:extLst>
          </p:cNvPr>
          <p:cNvSpPr>
            <a:spLocks noGrp="1"/>
          </p:cNvSpPr>
          <p:nvPr>
            <p:ph type="sldNum" sz="quarter" idx="12"/>
          </p:nvPr>
        </p:nvSpPr>
        <p:spPr/>
        <p:txBody>
          <a:bodyPr/>
          <a:lstStyle/>
          <a:p>
            <a:fld id="{3FE5B538-B59D-40BE-A71D-808D1A583C60}" type="slidenum">
              <a:rPr lang="en-US" smtClean="0"/>
              <a:t>2</a:t>
            </a:fld>
            <a:endParaRPr lang="en-US"/>
          </a:p>
        </p:txBody>
      </p:sp>
      <p:pic>
        <p:nvPicPr>
          <p:cNvPr id="7" name="그림 6" descr="텍스트이(가) 표시된 사진&#10;&#10;자동 생성된 설명">
            <a:extLst>
              <a:ext uri="{FF2B5EF4-FFF2-40B4-BE49-F238E27FC236}">
                <a16:creationId xmlns:a16="http://schemas.microsoft.com/office/drawing/2014/main" id="{EE072EEA-A436-CDCD-1DE8-6BB9196A1D8A}"/>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9" name="Title 1">
            <a:extLst>
              <a:ext uri="{FF2B5EF4-FFF2-40B4-BE49-F238E27FC236}">
                <a16:creationId xmlns:a16="http://schemas.microsoft.com/office/drawing/2014/main" id="{A988B72B-CFD9-C6E5-17F3-06E3278727B7}"/>
              </a:ext>
            </a:extLst>
          </p:cNvPr>
          <p:cNvSpPr txBox="1">
            <a:spLocks/>
          </p:cNvSpPr>
          <p:nvPr/>
        </p:nvSpPr>
        <p:spPr bwMode="auto">
          <a:xfrm>
            <a:off x="1064437" y="19956"/>
            <a:ext cx="9144000"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4800" dirty="0"/>
              <a:t>Outline</a:t>
            </a:r>
            <a:endParaRPr lang="en-US" sz="3200" kern="0" dirty="0"/>
          </a:p>
        </p:txBody>
      </p:sp>
      <p:cxnSp>
        <p:nvCxnSpPr>
          <p:cNvPr id="10" name="Straight Connector 9">
            <a:extLst>
              <a:ext uri="{FF2B5EF4-FFF2-40B4-BE49-F238E27FC236}">
                <a16:creationId xmlns:a16="http://schemas.microsoft.com/office/drawing/2014/main" id="{4B158036-4C83-1081-4A67-08F4FDF4CFF9}"/>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03F8C94-EB23-2C83-06F8-E64215DF4CD9}"/>
              </a:ext>
            </a:extLst>
          </p:cNvPr>
          <p:cNvCxnSpPr/>
          <p:nvPr/>
        </p:nvCxnSpPr>
        <p:spPr>
          <a:xfrm>
            <a:off x="411060" y="857075"/>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40F0FD8E-6A51-00E4-770C-D39CFFAAFA7A}"/>
              </a:ext>
            </a:extLst>
          </p:cNvPr>
          <p:cNvSpPr txBox="1">
            <a:spLocks/>
          </p:cNvSpPr>
          <p:nvPr/>
        </p:nvSpPr>
        <p:spPr>
          <a:xfrm>
            <a:off x="838199" y="1286805"/>
            <a:ext cx="10515600" cy="42843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US" sz="4000" dirty="0">
                <a:latin typeface="+mj-lt"/>
              </a:rPr>
              <a:t>General Overview</a:t>
            </a:r>
          </a:p>
          <a:p>
            <a:pPr>
              <a:buFont typeface="Wingdings" panose="05000000000000000000" pitchFamily="2" charset="2"/>
              <a:buChar char="q"/>
            </a:pPr>
            <a:r>
              <a:rPr lang="en-US" sz="4000" dirty="0">
                <a:latin typeface="+mj-lt"/>
              </a:rPr>
              <a:t>Motivation &amp; Contribution</a:t>
            </a:r>
          </a:p>
          <a:p>
            <a:pPr>
              <a:buFont typeface="Wingdings" panose="05000000000000000000" pitchFamily="2" charset="2"/>
              <a:buChar char="q"/>
            </a:pPr>
            <a:r>
              <a:rPr lang="en-US" sz="4000" dirty="0">
                <a:latin typeface="+mj-lt"/>
              </a:rPr>
              <a:t>Methodology</a:t>
            </a:r>
          </a:p>
          <a:p>
            <a:pPr>
              <a:buFont typeface="Wingdings" panose="05000000000000000000" pitchFamily="2" charset="2"/>
              <a:buChar char="q"/>
            </a:pPr>
            <a:r>
              <a:rPr lang="en-US" sz="4000" dirty="0">
                <a:latin typeface="+mj-lt"/>
              </a:rPr>
              <a:t>System Overview</a:t>
            </a:r>
          </a:p>
          <a:p>
            <a:pPr>
              <a:buFont typeface="Wingdings" panose="05000000000000000000" pitchFamily="2" charset="2"/>
              <a:buChar char="q"/>
            </a:pPr>
            <a:r>
              <a:rPr lang="en-US" sz="4000" dirty="0">
                <a:latin typeface="+mj-lt"/>
              </a:rPr>
              <a:t>Result &amp; Discussion</a:t>
            </a:r>
          </a:p>
          <a:p>
            <a:pPr>
              <a:buFont typeface="Wingdings" panose="05000000000000000000" pitchFamily="2" charset="2"/>
              <a:buChar char="q"/>
            </a:pPr>
            <a:r>
              <a:rPr lang="en-US" sz="4000" dirty="0">
                <a:latin typeface="+mj-lt"/>
              </a:rPr>
              <a:t>Conclusion</a:t>
            </a:r>
            <a:endParaRPr lang="en-US" sz="4000" dirty="0"/>
          </a:p>
        </p:txBody>
      </p:sp>
    </p:spTree>
    <p:extLst>
      <p:ext uri="{BB962C8B-B14F-4D97-AF65-F5344CB8AC3E}">
        <p14:creationId xmlns:p14="http://schemas.microsoft.com/office/powerpoint/2010/main" val="4079416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6" descr="텍스트이(가) 표시된 사진&#10;&#10;자동 생성된 설명">
            <a:extLst>
              <a:ext uri="{FF2B5EF4-FFF2-40B4-BE49-F238E27FC236}">
                <a16:creationId xmlns:a16="http://schemas.microsoft.com/office/drawing/2014/main" id="{45214CF7-D58F-AEC6-57CC-4EE424A29F95}"/>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7" name="Slide Number Placeholder 6">
            <a:extLst>
              <a:ext uri="{FF2B5EF4-FFF2-40B4-BE49-F238E27FC236}">
                <a16:creationId xmlns:a16="http://schemas.microsoft.com/office/drawing/2014/main" id="{359F3FE1-8AB0-46F7-A9C7-5D5B4ABCA707}"/>
              </a:ext>
            </a:extLst>
          </p:cNvPr>
          <p:cNvSpPr>
            <a:spLocks noGrp="1"/>
          </p:cNvSpPr>
          <p:nvPr>
            <p:ph type="sldNum" sz="quarter" idx="12"/>
          </p:nvPr>
        </p:nvSpPr>
        <p:spPr/>
        <p:txBody>
          <a:bodyPr/>
          <a:lstStyle/>
          <a:p>
            <a:fld id="{3FE5B538-B59D-40BE-A71D-808D1A583C60}" type="slidenum">
              <a:rPr lang="en-US" smtClean="0"/>
              <a:t>3</a:t>
            </a:fld>
            <a:endParaRPr lang="en-US"/>
          </a:p>
        </p:txBody>
      </p:sp>
      <p:sp>
        <p:nvSpPr>
          <p:cNvPr id="10" name="Title 1">
            <a:extLst>
              <a:ext uri="{FF2B5EF4-FFF2-40B4-BE49-F238E27FC236}">
                <a16:creationId xmlns:a16="http://schemas.microsoft.com/office/drawing/2014/main" id="{A0601C0D-5A55-FB56-460E-1274B142D9CF}"/>
              </a:ext>
            </a:extLst>
          </p:cNvPr>
          <p:cNvSpPr txBox="1">
            <a:spLocks/>
          </p:cNvSpPr>
          <p:nvPr/>
        </p:nvSpPr>
        <p:spPr bwMode="auto">
          <a:xfrm>
            <a:off x="1064437" y="19956"/>
            <a:ext cx="9144000"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General Overview</a:t>
            </a:r>
            <a:endParaRPr lang="en-US" sz="3200" kern="0" dirty="0"/>
          </a:p>
        </p:txBody>
      </p:sp>
      <p:cxnSp>
        <p:nvCxnSpPr>
          <p:cNvPr id="14" name="Straight Connector 13">
            <a:extLst>
              <a:ext uri="{FF2B5EF4-FFF2-40B4-BE49-F238E27FC236}">
                <a16:creationId xmlns:a16="http://schemas.microsoft.com/office/drawing/2014/main" id="{75442E69-7A67-A0F3-BAB6-459223062A07}"/>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64A9301-FE3E-7724-8F8B-13403DD017E1}"/>
              </a:ext>
            </a:extLst>
          </p:cNvPr>
          <p:cNvCxnSpPr/>
          <p:nvPr/>
        </p:nvCxnSpPr>
        <p:spPr>
          <a:xfrm>
            <a:off x="411060" y="857075"/>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Content Placeholder 2">
            <a:extLst>
              <a:ext uri="{FF2B5EF4-FFF2-40B4-BE49-F238E27FC236}">
                <a16:creationId xmlns:a16="http://schemas.microsoft.com/office/drawing/2014/main" id="{3DE21D85-D3D9-5919-293E-5A3180086254}"/>
              </a:ext>
            </a:extLst>
          </p:cNvPr>
          <p:cNvSpPr>
            <a:spLocks noGrp="1"/>
          </p:cNvSpPr>
          <p:nvPr>
            <p:ph idx="1"/>
          </p:nvPr>
        </p:nvSpPr>
        <p:spPr>
          <a:xfrm>
            <a:off x="635137" y="1914545"/>
            <a:ext cx="8677334" cy="3319842"/>
          </a:xfrm>
        </p:spPr>
        <p:txBody>
          <a:bodyPr>
            <a:normAutofit/>
          </a:bodyPr>
          <a:lstStyle/>
          <a:p>
            <a:pPr lvl="1"/>
            <a:r>
              <a:rPr lang="en-US" sz="1700" dirty="0"/>
              <a:t>Because of the current reliance on fossil fuels, the human population will confront a catastrophic energy crisis [1]. </a:t>
            </a:r>
          </a:p>
          <a:p>
            <a:pPr marL="457200" lvl="1" indent="0">
              <a:buNone/>
            </a:pPr>
            <a:endParaRPr lang="en-US" sz="1700" dirty="0"/>
          </a:p>
          <a:p>
            <a:pPr lvl="1"/>
            <a:r>
              <a:rPr lang="en-US" sz="1700" dirty="0"/>
              <a:t>Solar energy can considerably contribute to the world's electricity needs [2]. </a:t>
            </a:r>
          </a:p>
          <a:p>
            <a:pPr marL="457200" lvl="1" indent="0">
              <a:buNone/>
            </a:pPr>
            <a:endParaRPr lang="en-US" sz="1700" dirty="0"/>
          </a:p>
          <a:p>
            <a:pPr lvl="1"/>
            <a:r>
              <a:rPr lang="en-US" sz="1700" dirty="0"/>
              <a:t>PV solar panels are mostly dependent on the regular pattern of solar irradiation. The radiation magnitude is zero at night, increases at dawn, and decreases at night. In addition, the weather conditions at certain times, which will block sun energy, will have an effect [3].</a:t>
            </a:r>
          </a:p>
        </p:txBody>
      </p:sp>
      <p:pic>
        <p:nvPicPr>
          <p:cNvPr id="3076" name="Picture 4" descr="69,115 Energy Crisis Images, Stock Photos &amp; Vectors | Shutterstock">
            <a:extLst>
              <a:ext uri="{FF2B5EF4-FFF2-40B4-BE49-F238E27FC236}">
                <a16:creationId xmlns:a16="http://schemas.microsoft.com/office/drawing/2014/main" id="{789F7F9C-4978-818E-C2CF-488BBE16C085}"/>
              </a:ext>
            </a:extLst>
          </p:cNvPr>
          <p:cNvPicPr>
            <a:picLocks noChangeAspect="1" noChangeArrowheads="1"/>
          </p:cNvPicPr>
          <p:nvPr/>
        </p:nvPicPr>
        <p:blipFill rotWithShape="1">
          <a:blip r:embed="rId3">
            <a:grayscl/>
            <a:extLst>
              <a:ext uri="{28A0092B-C50C-407E-A947-70E740481C1C}">
                <a14:useLocalDpi xmlns:a14="http://schemas.microsoft.com/office/drawing/2010/main" val="0"/>
              </a:ext>
            </a:extLst>
          </a:blip>
          <a:srcRect l="10649" t="14356" r="12963" b="16546"/>
          <a:stretch/>
        </p:blipFill>
        <p:spPr bwMode="auto">
          <a:xfrm>
            <a:off x="9982200" y="2063639"/>
            <a:ext cx="1955695" cy="1908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5991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01DCAF-FCDF-0233-DD0D-967D2D3B02C2}"/>
              </a:ext>
            </a:extLst>
          </p:cNvPr>
          <p:cNvSpPr>
            <a:spLocks noGrp="1"/>
          </p:cNvSpPr>
          <p:nvPr>
            <p:ph idx="1"/>
          </p:nvPr>
        </p:nvSpPr>
        <p:spPr>
          <a:xfrm>
            <a:off x="411061" y="2949750"/>
            <a:ext cx="10942739" cy="3009230"/>
          </a:xfrm>
        </p:spPr>
        <p:txBody>
          <a:bodyPr>
            <a:normAutofit/>
          </a:bodyPr>
          <a:lstStyle/>
          <a:p>
            <a:r>
              <a:rPr lang="en-US" sz="1700" dirty="0"/>
              <a:t>The time series model is one of this study's most commonly employed algorithms, although it has several distinct limitations.</a:t>
            </a:r>
          </a:p>
          <a:p>
            <a:endParaRPr lang="en-US" sz="1700" dirty="0"/>
          </a:p>
          <a:p>
            <a:r>
              <a:rPr lang="en-US" sz="1700" dirty="0"/>
              <a:t>Due to this, numerous algorithms are employed in solar forecasting, including statistical time series models and artificial neural networks (ANNs) which have recently gained widespread acceptance for renewable energy forecasts.</a:t>
            </a:r>
          </a:p>
          <a:p>
            <a:endParaRPr lang="en-US" sz="1700" dirty="0"/>
          </a:p>
          <a:p>
            <a:r>
              <a:rPr lang="en-US" sz="1700" dirty="0"/>
              <a:t>LSTM, Bi-LSTM, Stacked Bi-LSTM, RNN, and GRU models were used to produce forecasts based on solar power generation and weather data from different regions in Korea.</a:t>
            </a:r>
          </a:p>
        </p:txBody>
      </p:sp>
      <p:sp>
        <p:nvSpPr>
          <p:cNvPr id="6" name="Slide Number Placeholder 5">
            <a:extLst>
              <a:ext uri="{FF2B5EF4-FFF2-40B4-BE49-F238E27FC236}">
                <a16:creationId xmlns:a16="http://schemas.microsoft.com/office/drawing/2014/main" id="{80C9BF49-6D4A-D1EF-ED8A-FC72E3B21251}"/>
              </a:ext>
            </a:extLst>
          </p:cNvPr>
          <p:cNvSpPr>
            <a:spLocks noGrp="1"/>
          </p:cNvSpPr>
          <p:nvPr>
            <p:ph type="sldNum" sz="quarter" idx="12"/>
          </p:nvPr>
        </p:nvSpPr>
        <p:spPr/>
        <p:txBody>
          <a:bodyPr/>
          <a:lstStyle/>
          <a:p>
            <a:fld id="{3FE5B538-B59D-40BE-A71D-808D1A583C60}" type="slidenum">
              <a:rPr lang="en-US" smtClean="0"/>
              <a:t>4</a:t>
            </a:fld>
            <a:endParaRPr lang="en-US"/>
          </a:p>
        </p:txBody>
      </p:sp>
      <p:pic>
        <p:nvPicPr>
          <p:cNvPr id="7" name="그림 6" descr="텍스트이(가) 표시된 사진&#10;&#10;자동 생성된 설명">
            <a:extLst>
              <a:ext uri="{FF2B5EF4-FFF2-40B4-BE49-F238E27FC236}">
                <a16:creationId xmlns:a16="http://schemas.microsoft.com/office/drawing/2014/main" id="{166FFC9E-A3CA-8CC5-F6EE-EC29B6CA04EB}"/>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8" name="Title 1">
            <a:extLst>
              <a:ext uri="{FF2B5EF4-FFF2-40B4-BE49-F238E27FC236}">
                <a16:creationId xmlns:a16="http://schemas.microsoft.com/office/drawing/2014/main" id="{4BFC6CF1-D190-CFE6-75AB-09CBA4E356A3}"/>
              </a:ext>
            </a:extLst>
          </p:cNvPr>
          <p:cNvSpPr txBox="1">
            <a:spLocks/>
          </p:cNvSpPr>
          <p:nvPr/>
        </p:nvSpPr>
        <p:spPr bwMode="auto">
          <a:xfrm>
            <a:off x="951319" y="32031"/>
            <a:ext cx="1028936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Motivation &amp; Contribution</a:t>
            </a:r>
            <a:endParaRPr lang="en-US" sz="1100" kern="0" dirty="0"/>
          </a:p>
        </p:txBody>
      </p:sp>
      <p:cxnSp>
        <p:nvCxnSpPr>
          <p:cNvPr id="9" name="Straight Connector 8">
            <a:extLst>
              <a:ext uri="{FF2B5EF4-FFF2-40B4-BE49-F238E27FC236}">
                <a16:creationId xmlns:a16="http://schemas.microsoft.com/office/drawing/2014/main" id="{450E07EC-5E11-6077-9116-15847178A135}"/>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30A9943-6E09-A408-9ACE-B0378EEDCA2C}"/>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E0A1AC9A-9AE4-2AC9-35EB-69CA4BACCFA4}"/>
              </a:ext>
            </a:extLst>
          </p:cNvPr>
          <p:cNvGraphicFramePr/>
          <p:nvPr>
            <p:extLst>
              <p:ext uri="{D42A27DB-BD31-4B8C-83A1-F6EECF244321}">
                <p14:modId xmlns:p14="http://schemas.microsoft.com/office/powerpoint/2010/main" val="4206841447"/>
              </p:ext>
            </p:extLst>
          </p:nvPr>
        </p:nvGraphicFramePr>
        <p:xfrm>
          <a:off x="411061" y="1040884"/>
          <a:ext cx="10942739" cy="1740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36639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6F4493C-0A9F-BC71-06C2-1E716F03A754}"/>
              </a:ext>
            </a:extLst>
          </p:cNvPr>
          <p:cNvSpPr>
            <a:spLocks noGrp="1"/>
          </p:cNvSpPr>
          <p:nvPr>
            <p:ph type="sldNum" sz="quarter" idx="12"/>
          </p:nvPr>
        </p:nvSpPr>
        <p:spPr/>
        <p:txBody>
          <a:bodyPr/>
          <a:lstStyle/>
          <a:p>
            <a:fld id="{3FE5B538-B59D-40BE-A71D-808D1A583C60}" type="slidenum">
              <a:rPr lang="en-US" smtClean="0"/>
              <a:t>5</a:t>
            </a:fld>
            <a:endParaRPr lang="en-US"/>
          </a:p>
        </p:txBody>
      </p:sp>
      <p:pic>
        <p:nvPicPr>
          <p:cNvPr id="8" name="그림 6" descr="텍스트이(가) 표시된 사진&#10;&#10;자동 생성된 설명">
            <a:extLst>
              <a:ext uri="{FF2B5EF4-FFF2-40B4-BE49-F238E27FC236}">
                <a16:creationId xmlns:a16="http://schemas.microsoft.com/office/drawing/2014/main" id="{7A687C90-3CDE-A077-4A5C-1C8DED6B0C89}"/>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9" name="Title 1">
            <a:extLst>
              <a:ext uri="{FF2B5EF4-FFF2-40B4-BE49-F238E27FC236}">
                <a16:creationId xmlns:a16="http://schemas.microsoft.com/office/drawing/2014/main" id="{5689D710-6915-F8BA-E423-CB9B6C1DE0AA}"/>
              </a:ext>
            </a:extLst>
          </p:cNvPr>
          <p:cNvSpPr txBox="1">
            <a:spLocks/>
          </p:cNvSpPr>
          <p:nvPr/>
        </p:nvSpPr>
        <p:spPr bwMode="auto">
          <a:xfrm>
            <a:off x="951319" y="32031"/>
            <a:ext cx="1028936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Methodology</a:t>
            </a:r>
            <a:endParaRPr lang="en-US" sz="1100" kern="0" dirty="0"/>
          </a:p>
        </p:txBody>
      </p:sp>
      <p:cxnSp>
        <p:nvCxnSpPr>
          <p:cNvPr id="10" name="Straight Connector 9">
            <a:extLst>
              <a:ext uri="{FF2B5EF4-FFF2-40B4-BE49-F238E27FC236}">
                <a16:creationId xmlns:a16="http://schemas.microsoft.com/office/drawing/2014/main" id="{2DF5E187-1566-E965-CF43-FC11E679EBC3}"/>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9F0CA7D-322B-D96E-FD30-71939104BD4C}"/>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6C15FBF-C4EA-DE09-837A-A7CDF9DCD971}"/>
              </a:ext>
            </a:extLst>
          </p:cNvPr>
          <p:cNvSpPr>
            <a:spLocks noGrp="1"/>
          </p:cNvSpPr>
          <p:nvPr>
            <p:ph idx="1"/>
          </p:nvPr>
        </p:nvSpPr>
        <p:spPr>
          <a:xfrm>
            <a:off x="6625086" y="1253331"/>
            <a:ext cx="4392283" cy="4351338"/>
          </a:xfrm>
        </p:spPr>
        <p:txBody>
          <a:bodyPr>
            <a:normAutofit/>
          </a:bodyPr>
          <a:lstStyle/>
          <a:p>
            <a:r>
              <a:rPr lang="en-US" sz="1800" kern="0" spc="-50" dirty="0">
                <a:solidFill>
                  <a:srgbClr val="000000"/>
                </a:solidFill>
                <a:effectLst/>
                <a:ea typeface="한양신명조"/>
              </a:rPr>
              <a:t>We collect PV sites in many regions of Korea, including Busan, Seoul, Gyeonggi, Gangwon, Daejeon, </a:t>
            </a:r>
            <a:r>
              <a:rPr lang="en-US" sz="1800" kern="0" spc="-50" dirty="0" err="1">
                <a:solidFill>
                  <a:srgbClr val="000000"/>
                </a:solidFill>
                <a:effectLst/>
                <a:ea typeface="한양신명조"/>
              </a:rPr>
              <a:t>Gyeongnam</a:t>
            </a:r>
            <a:r>
              <a:rPr lang="en-US" sz="1800" kern="0" spc="-50" dirty="0">
                <a:solidFill>
                  <a:srgbClr val="000000"/>
                </a:solidFill>
                <a:effectLst/>
                <a:ea typeface="한양신명조"/>
              </a:rPr>
              <a:t>, </a:t>
            </a:r>
            <a:r>
              <a:rPr lang="en-US" sz="1800" kern="0" spc="-50" dirty="0" err="1">
                <a:solidFill>
                  <a:srgbClr val="000000"/>
                </a:solidFill>
                <a:effectLst/>
                <a:ea typeface="한양신명조"/>
              </a:rPr>
              <a:t>Jeonbuk</a:t>
            </a:r>
            <a:r>
              <a:rPr lang="en-US" sz="1800" kern="0" spc="-50" dirty="0">
                <a:solidFill>
                  <a:srgbClr val="000000"/>
                </a:solidFill>
                <a:effectLst/>
                <a:ea typeface="한양신명조"/>
              </a:rPr>
              <a:t>, Sejong, </a:t>
            </a:r>
            <a:r>
              <a:rPr lang="en-US" sz="1800" kern="0" spc="-50" dirty="0" err="1">
                <a:solidFill>
                  <a:srgbClr val="000000"/>
                </a:solidFill>
                <a:effectLst/>
                <a:ea typeface="한양신명조"/>
              </a:rPr>
              <a:t>Chungbuk</a:t>
            </a:r>
            <a:r>
              <a:rPr lang="en-US" sz="1800" kern="0" spc="-50" dirty="0">
                <a:solidFill>
                  <a:srgbClr val="000000"/>
                </a:solidFill>
                <a:effectLst/>
                <a:ea typeface="한양신명조"/>
              </a:rPr>
              <a:t>, and </a:t>
            </a:r>
            <a:r>
              <a:rPr lang="en-US" sz="1800" kern="0" spc="-50" dirty="0" err="1">
                <a:solidFill>
                  <a:srgbClr val="000000"/>
                </a:solidFill>
                <a:effectLst/>
                <a:ea typeface="한양신명조"/>
              </a:rPr>
              <a:t>Chungnam</a:t>
            </a:r>
            <a:r>
              <a:rPr lang="en-US" sz="1800" kern="0" spc="-50" dirty="0">
                <a:solidFill>
                  <a:srgbClr val="000000"/>
                </a:solidFill>
                <a:effectLst/>
                <a:ea typeface="한양신명조"/>
              </a:rPr>
              <a:t>, for the production of solar power electrical statistics.</a:t>
            </a:r>
          </a:p>
          <a:p>
            <a:pPr marL="0" indent="0">
              <a:buNone/>
            </a:pPr>
            <a:endParaRPr lang="en-US" sz="1800" kern="0" spc="-50" dirty="0">
              <a:solidFill>
                <a:srgbClr val="000000"/>
              </a:solidFill>
              <a:effectLst/>
              <a:ea typeface="한양신명조"/>
            </a:endParaRPr>
          </a:p>
          <a:p>
            <a:r>
              <a:rPr lang="en-US" sz="1800" kern="0" spc="-50" dirty="0">
                <a:solidFill>
                  <a:srgbClr val="000000"/>
                </a:solidFill>
                <a:effectLst/>
                <a:ea typeface="한양신명조"/>
              </a:rPr>
              <a:t>The data is then sent to the database via MQTT. </a:t>
            </a:r>
          </a:p>
          <a:p>
            <a:pPr marL="0" indent="0">
              <a:buNone/>
            </a:pPr>
            <a:r>
              <a:rPr lang="en-US" sz="1800" kern="0" spc="-50" dirty="0">
                <a:solidFill>
                  <a:srgbClr val="000000"/>
                </a:solidFill>
                <a:ea typeface="한양신명조"/>
              </a:rPr>
              <a:t> </a:t>
            </a:r>
            <a:endParaRPr lang="en-US" sz="1800" kern="0" spc="-50" dirty="0">
              <a:solidFill>
                <a:srgbClr val="000000"/>
              </a:solidFill>
              <a:effectLst/>
              <a:ea typeface="한양신명조"/>
            </a:endParaRPr>
          </a:p>
          <a:p>
            <a:r>
              <a:rPr lang="en-US" sz="1800" kern="0" spc="-50" dirty="0">
                <a:solidFill>
                  <a:srgbClr val="000000"/>
                </a:solidFill>
                <a:ea typeface="한양신명조"/>
              </a:rPr>
              <a:t>W</a:t>
            </a:r>
            <a:r>
              <a:rPr lang="en-US" sz="1800" kern="0" spc="-50" dirty="0">
                <a:solidFill>
                  <a:srgbClr val="000000"/>
                </a:solidFill>
                <a:effectLst/>
                <a:ea typeface="한양신명조"/>
              </a:rPr>
              <a:t>e require weather data to train the model; this data is available via the open API of the Korea Meteorological Administration (KMA). The data we collect is hourly data for the entire year of 2021.</a:t>
            </a:r>
            <a:endParaRPr lang="en-US" sz="1800" kern="0" dirty="0">
              <a:solidFill>
                <a:srgbClr val="000000"/>
              </a:solidFill>
              <a:effectLst/>
            </a:endParaRPr>
          </a:p>
          <a:p>
            <a:endParaRPr lang="en-US" dirty="0"/>
          </a:p>
        </p:txBody>
      </p:sp>
      <p:pic>
        <p:nvPicPr>
          <p:cNvPr id="5" name="Picture 4">
            <a:extLst>
              <a:ext uri="{FF2B5EF4-FFF2-40B4-BE49-F238E27FC236}">
                <a16:creationId xmlns:a16="http://schemas.microsoft.com/office/drawing/2014/main" id="{6E8265E4-572E-24C0-1DDA-B1C84C1FCC84}"/>
              </a:ext>
            </a:extLst>
          </p:cNvPr>
          <p:cNvPicPr>
            <a:picLocks noChangeAspect="1"/>
          </p:cNvPicPr>
          <p:nvPr/>
        </p:nvPicPr>
        <p:blipFill>
          <a:blip r:embed="rId3"/>
          <a:stretch>
            <a:fillRect/>
          </a:stretch>
        </p:blipFill>
        <p:spPr>
          <a:xfrm>
            <a:off x="824627" y="1250759"/>
            <a:ext cx="5359728" cy="4075049"/>
          </a:xfrm>
          <a:prstGeom prst="rect">
            <a:avLst/>
          </a:prstGeom>
          <a:noFill/>
          <a:ln>
            <a:noFill/>
          </a:ln>
          <a:effectLst/>
        </p:spPr>
      </p:pic>
      <p:sp>
        <p:nvSpPr>
          <p:cNvPr id="12" name="TextBox 11">
            <a:extLst>
              <a:ext uri="{FF2B5EF4-FFF2-40B4-BE49-F238E27FC236}">
                <a16:creationId xmlns:a16="http://schemas.microsoft.com/office/drawing/2014/main" id="{6F03B8C2-7820-4649-95E3-1B2710CE7B88}"/>
              </a:ext>
            </a:extLst>
          </p:cNvPr>
          <p:cNvSpPr txBox="1"/>
          <p:nvPr/>
        </p:nvSpPr>
        <p:spPr>
          <a:xfrm>
            <a:off x="1559386" y="5490432"/>
            <a:ext cx="2818682" cy="265394"/>
          </a:xfrm>
          <a:prstGeom prst="rect">
            <a:avLst/>
          </a:prstGeom>
          <a:noFill/>
        </p:spPr>
        <p:txBody>
          <a:bodyPr wrap="square">
            <a:spAutoFit/>
          </a:bodyPr>
          <a:lstStyle/>
          <a:p>
            <a:pPr marL="0" marR="0" indent="0" algn="ctr" fontAlgn="base" latinLnBrk="0">
              <a:lnSpc>
                <a:spcPct val="158000"/>
              </a:lnSpc>
              <a:spcBef>
                <a:spcPts val="0"/>
              </a:spcBef>
              <a:spcAft>
                <a:spcPts val="400"/>
              </a:spcAft>
            </a:pPr>
            <a:r>
              <a:rPr lang="en-US" sz="800" kern="0" spc="-50" dirty="0">
                <a:solidFill>
                  <a:srgbClr val="000000"/>
                </a:solidFill>
                <a:effectLst/>
                <a:latin typeface="한양신명조"/>
                <a:ea typeface="한양신명조"/>
              </a:rPr>
              <a:t>Figure 1. Develop Solar Power Generation Forecasting Using Weather Data</a:t>
            </a:r>
            <a:endParaRPr lang="en-US" sz="2400" kern="0" dirty="0">
              <a:solidFill>
                <a:srgbClr val="000000"/>
              </a:solidFill>
              <a:effectLst/>
              <a:latin typeface="한양신명조"/>
            </a:endParaRPr>
          </a:p>
        </p:txBody>
      </p:sp>
    </p:spTree>
    <p:extLst>
      <p:ext uri="{BB962C8B-B14F-4D97-AF65-F5344CB8AC3E}">
        <p14:creationId xmlns:p14="http://schemas.microsoft.com/office/powerpoint/2010/main" val="3363227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A31A6-EB81-B59C-3AE6-E9015E4B78AC}"/>
              </a:ext>
            </a:extLst>
          </p:cNvPr>
          <p:cNvSpPr>
            <a:spLocks noGrp="1"/>
          </p:cNvSpPr>
          <p:nvPr>
            <p:ph idx="1"/>
          </p:nvPr>
        </p:nvSpPr>
        <p:spPr>
          <a:xfrm>
            <a:off x="378821" y="1098668"/>
            <a:ext cx="2752568" cy="514904"/>
          </a:xfrm>
        </p:spPr>
        <p:txBody>
          <a:bodyPr>
            <a:normAutofit fontScale="77500" lnSpcReduction="20000"/>
          </a:bodyPr>
          <a:lstStyle/>
          <a:p>
            <a:r>
              <a:rPr lang="en-US" dirty="0"/>
              <a:t>Data Preprocessing</a:t>
            </a:r>
          </a:p>
        </p:txBody>
      </p:sp>
      <p:sp>
        <p:nvSpPr>
          <p:cNvPr id="9" name="TextBox 8">
            <a:extLst>
              <a:ext uri="{FF2B5EF4-FFF2-40B4-BE49-F238E27FC236}">
                <a16:creationId xmlns:a16="http://schemas.microsoft.com/office/drawing/2014/main" id="{B488550A-BAB6-9BDC-6F87-90F1983300A4}"/>
              </a:ext>
            </a:extLst>
          </p:cNvPr>
          <p:cNvSpPr txBox="1"/>
          <p:nvPr/>
        </p:nvSpPr>
        <p:spPr>
          <a:xfrm>
            <a:off x="624631" y="4589791"/>
            <a:ext cx="10942738" cy="369332"/>
          </a:xfrm>
          <a:prstGeom prst="rect">
            <a:avLst/>
          </a:prstGeom>
          <a:noFill/>
        </p:spPr>
        <p:txBody>
          <a:bodyPr wrap="square" rtlCol="0">
            <a:spAutoFit/>
          </a:bodyPr>
          <a:lstStyle/>
          <a:p>
            <a:pPr algn="ctr"/>
            <a:r>
              <a:rPr lang="en-US" dirty="0"/>
              <a:t>Interpolate Missing value using interpolation with nearest method.</a:t>
            </a:r>
          </a:p>
        </p:txBody>
      </p:sp>
      <p:sp>
        <p:nvSpPr>
          <p:cNvPr id="11" name="Slide Number Placeholder 10">
            <a:extLst>
              <a:ext uri="{FF2B5EF4-FFF2-40B4-BE49-F238E27FC236}">
                <a16:creationId xmlns:a16="http://schemas.microsoft.com/office/drawing/2014/main" id="{C9EA4C25-599C-38B5-A796-22C6FBA7087A}"/>
              </a:ext>
            </a:extLst>
          </p:cNvPr>
          <p:cNvSpPr>
            <a:spLocks noGrp="1"/>
          </p:cNvSpPr>
          <p:nvPr>
            <p:ph type="sldNum" sz="quarter" idx="12"/>
          </p:nvPr>
        </p:nvSpPr>
        <p:spPr/>
        <p:txBody>
          <a:bodyPr/>
          <a:lstStyle/>
          <a:p>
            <a:fld id="{3FE5B538-B59D-40BE-A71D-808D1A583C60}" type="slidenum">
              <a:rPr lang="en-US" smtClean="0"/>
              <a:t>6</a:t>
            </a:fld>
            <a:endParaRPr lang="en-US"/>
          </a:p>
        </p:txBody>
      </p:sp>
      <p:pic>
        <p:nvPicPr>
          <p:cNvPr id="12" name="그림 6" descr="텍스트이(가) 표시된 사진&#10;&#10;자동 생성된 설명">
            <a:extLst>
              <a:ext uri="{FF2B5EF4-FFF2-40B4-BE49-F238E27FC236}">
                <a16:creationId xmlns:a16="http://schemas.microsoft.com/office/drawing/2014/main" id="{55F9D8A3-DF34-0697-C696-4D948ACA16A3}"/>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13" name="Title 1">
            <a:extLst>
              <a:ext uri="{FF2B5EF4-FFF2-40B4-BE49-F238E27FC236}">
                <a16:creationId xmlns:a16="http://schemas.microsoft.com/office/drawing/2014/main" id="{1D2803E2-2778-D73D-9D85-2D314BA1D3E4}"/>
              </a:ext>
            </a:extLst>
          </p:cNvPr>
          <p:cNvSpPr txBox="1">
            <a:spLocks/>
          </p:cNvSpPr>
          <p:nvPr/>
        </p:nvSpPr>
        <p:spPr bwMode="auto">
          <a:xfrm>
            <a:off x="951319" y="106533"/>
            <a:ext cx="1028936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System Overview</a:t>
            </a:r>
            <a:endParaRPr lang="en-US" sz="1100" kern="0" dirty="0"/>
          </a:p>
        </p:txBody>
      </p:sp>
      <p:cxnSp>
        <p:nvCxnSpPr>
          <p:cNvPr id="14" name="Straight Connector 13">
            <a:extLst>
              <a:ext uri="{FF2B5EF4-FFF2-40B4-BE49-F238E27FC236}">
                <a16:creationId xmlns:a16="http://schemas.microsoft.com/office/drawing/2014/main" id="{D126E861-39EA-AA3E-CAD3-36762820A410}"/>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A89AF7A-ED56-6E8A-94DD-FE9CC44E026D}"/>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2E229E7A-84F5-9742-44EF-E8173A4FDD9A}"/>
              </a:ext>
            </a:extLst>
          </p:cNvPr>
          <p:cNvPicPr>
            <a:picLocks noChangeAspect="1"/>
          </p:cNvPicPr>
          <p:nvPr/>
        </p:nvPicPr>
        <p:blipFill>
          <a:blip r:embed="rId3"/>
          <a:stretch>
            <a:fillRect/>
          </a:stretch>
        </p:blipFill>
        <p:spPr>
          <a:xfrm>
            <a:off x="396588" y="2054840"/>
            <a:ext cx="5243041" cy="2223862"/>
          </a:xfrm>
          <a:prstGeom prst="rect">
            <a:avLst/>
          </a:prstGeom>
        </p:spPr>
      </p:pic>
      <p:pic>
        <p:nvPicPr>
          <p:cNvPr id="8" name="Picture 7">
            <a:extLst>
              <a:ext uri="{FF2B5EF4-FFF2-40B4-BE49-F238E27FC236}">
                <a16:creationId xmlns:a16="http://schemas.microsoft.com/office/drawing/2014/main" id="{1A476606-3A3D-B698-07D2-A65E6E509808}"/>
              </a:ext>
            </a:extLst>
          </p:cNvPr>
          <p:cNvPicPr>
            <a:picLocks noChangeAspect="1"/>
          </p:cNvPicPr>
          <p:nvPr/>
        </p:nvPicPr>
        <p:blipFill>
          <a:blip r:embed="rId4"/>
          <a:stretch>
            <a:fillRect/>
          </a:stretch>
        </p:blipFill>
        <p:spPr>
          <a:xfrm>
            <a:off x="6110759" y="2016926"/>
            <a:ext cx="5243041" cy="2223862"/>
          </a:xfrm>
          <a:prstGeom prst="rect">
            <a:avLst/>
          </a:prstGeom>
        </p:spPr>
      </p:pic>
    </p:spTree>
    <p:extLst>
      <p:ext uri="{BB962C8B-B14F-4D97-AF65-F5344CB8AC3E}">
        <p14:creationId xmlns:p14="http://schemas.microsoft.com/office/powerpoint/2010/main" val="3418516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A31A6-EB81-B59C-3AE6-E9015E4B78AC}"/>
              </a:ext>
            </a:extLst>
          </p:cNvPr>
          <p:cNvSpPr>
            <a:spLocks noGrp="1"/>
          </p:cNvSpPr>
          <p:nvPr>
            <p:ph idx="1"/>
          </p:nvPr>
        </p:nvSpPr>
        <p:spPr>
          <a:xfrm>
            <a:off x="378821" y="1098668"/>
            <a:ext cx="2752568" cy="514904"/>
          </a:xfrm>
        </p:spPr>
        <p:txBody>
          <a:bodyPr>
            <a:normAutofit fontScale="77500" lnSpcReduction="20000"/>
          </a:bodyPr>
          <a:lstStyle/>
          <a:p>
            <a:r>
              <a:rPr lang="en-US" dirty="0"/>
              <a:t>Data Preprocessing</a:t>
            </a:r>
          </a:p>
        </p:txBody>
      </p:sp>
      <p:sp>
        <p:nvSpPr>
          <p:cNvPr id="9" name="TextBox 8">
            <a:extLst>
              <a:ext uri="{FF2B5EF4-FFF2-40B4-BE49-F238E27FC236}">
                <a16:creationId xmlns:a16="http://schemas.microsoft.com/office/drawing/2014/main" id="{B488550A-BAB6-9BDC-6F87-90F1983300A4}"/>
              </a:ext>
            </a:extLst>
          </p:cNvPr>
          <p:cNvSpPr txBox="1"/>
          <p:nvPr/>
        </p:nvSpPr>
        <p:spPr>
          <a:xfrm>
            <a:off x="624630" y="5253797"/>
            <a:ext cx="5471370" cy="369332"/>
          </a:xfrm>
          <a:prstGeom prst="rect">
            <a:avLst/>
          </a:prstGeom>
          <a:noFill/>
        </p:spPr>
        <p:txBody>
          <a:bodyPr wrap="square" rtlCol="0">
            <a:spAutoFit/>
          </a:bodyPr>
          <a:lstStyle/>
          <a:p>
            <a:pPr algn="ctr"/>
            <a:r>
              <a:rPr lang="en-US" dirty="0"/>
              <a:t>Deletion the outlier data and replace with nearest data</a:t>
            </a:r>
          </a:p>
        </p:txBody>
      </p:sp>
      <p:sp>
        <p:nvSpPr>
          <p:cNvPr id="11" name="Slide Number Placeholder 10">
            <a:extLst>
              <a:ext uri="{FF2B5EF4-FFF2-40B4-BE49-F238E27FC236}">
                <a16:creationId xmlns:a16="http://schemas.microsoft.com/office/drawing/2014/main" id="{C9EA4C25-599C-38B5-A796-22C6FBA7087A}"/>
              </a:ext>
            </a:extLst>
          </p:cNvPr>
          <p:cNvSpPr>
            <a:spLocks noGrp="1"/>
          </p:cNvSpPr>
          <p:nvPr>
            <p:ph type="sldNum" sz="quarter" idx="12"/>
          </p:nvPr>
        </p:nvSpPr>
        <p:spPr/>
        <p:txBody>
          <a:bodyPr/>
          <a:lstStyle/>
          <a:p>
            <a:fld id="{3FE5B538-B59D-40BE-A71D-808D1A583C60}" type="slidenum">
              <a:rPr lang="en-US" smtClean="0"/>
              <a:t>7</a:t>
            </a:fld>
            <a:endParaRPr lang="en-US"/>
          </a:p>
        </p:txBody>
      </p:sp>
      <p:pic>
        <p:nvPicPr>
          <p:cNvPr id="12" name="그림 6" descr="텍스트이(가) 표시된 사진&#10;&#10;자동 생성된 설명">
            <a:extLst>
              <a:ext uri="{FF2B5EF4-FFF2-40B4-BE49-F238E27FC236}">
                <a16:creationId xmlns:a16="http://schemas.microsoft.com/office/drawing/2014/main" id="{55F9D8A3-DF34-0697-C696-4D948ACA16A3}"/>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13" name="Title 1">
            <a:extLst>
              <a:ext uri="{FF2B5EF4-FFF2-40B4-BE49-F238E27FC236}">
                <a16:creationId xmlns:a16="http://schemas.microsoft.com/office/drawing/2014/main" id="{1D2803E2-2778-D73D-9D85-2D314BA1D3E4}"/>
              </a:ext>
            </a:extLst>
          </p:cNvPr>
          <p:cNvSpPr txBox="1">
            <a:spLocks/>
          </p:cNvSpPr>
          <p:nvPr/>
        </p:nvSpPr>
        <p:spPr bwMode="auto">
          <a:xfrm>
            <a:off x="951319" y="106533"/>
            <a:ext cx="1028936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System Overview</a:t>
            </a:r>
            <a:endParaRPr lang="en-US" sz="1100" kern="0" dirty="0"/>
          </a:p>
        </p:txBody>
      </p:sp>
      <p:cxnSp>
        <p:nvCxnSpPr>
          <p:cNvPr id="14" name="Straight Connector 13">
            <a:extLst>
              <a:ext uri="{FF2B5EF4-FFF2-40B4-BE49-F238E27FC236}">
                <a16:creationId xmlns:a16="http://schemas.microsoft.com/office/drawing/2014/main" id="{D126E861-39EA-AA3E-CAD3-36762820A410}"/>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A89AF7A-ED56-6E8A-94DD-FE9CC44E026D}"/>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A1B62932-A7AD-955B-998D-E36D297A27E9}"/>
              </a:ext>
            </a:extLst>
          </p:cNvPr>
          <p:cNvPicPr>
            <a:picLocks noChangeAspect="1"/>
          </p:cNvPicPr>
          <p:nvPr/>
        </p:nvPicPr>
        <p:blipFill>
          <a:blip r:embed="rId3"/>
          <a:stretch>
            <a:fillRect/>
          </a:stretch>
        </p:blipFill>
        <p:spPr>
          <a:xfrm>
            <a:off x="624630" y="1897482"/>
            <a:ext cx="5216559" cy="3187549"/>
          </a:xfrm>
          <a:prstGeom prst="rect">
            <a:avLst/>
          </a:prstGeom>
        </p:spPr>
      </p:pic>
      <p:sp>
        <p:nvSpPr>
          <p:cNvPr id="10" name="TextBox 9">
            <a:extLst>
              <a:ext uri="{FF2B5EF4-FFF2-40B4-BE49-F238E27FC236}">
                <a16:creationId xmlns:a16="http://schemas.microsoft.com/office/drawing/2014/main" id="{E8186709-1BC5-ACD2-2F19-92A7B9FD6869}"/>
              </a:ext>
            </a:extLst>
          </p:cNvPr>
          <p:cNvSpPr txBox="1"/>
          <p:nvPr/>
        </p:nvSpPr>
        <p:spPr>
          <a:xfrm>
            <a:off x="6096000" y="5253797"/>
            <a:ext cx="5471370" cy="646331"/>
          </a:xfrm>
          <a:prstGeom prst="rect">
            <a:avLst/>
          </a:prstGeom>
          <a:noFill/>
        </p:spPr>
        <p:txBody>
          <a:bodyPr wrap="square" rtlCol="0">
            <a:spAutoFit/>
          </a:bodyPr>
          <a:lstStyle/>
          <a:p>
            <a:pPr algn="ctr"/>
            <a:r>
              <a:rPr lang="en-US" sz="1800" kern="0" spc="-50" dirty="0">
                <a:solidFill>
                  <a:srgbClr val="000000"/>
                </a:solidFill>
                <a:effectLst/>
                <a:latin typeface="한양신명조"/>
                <a:ea typeface="한양신명조"/>
              </a:rPr>
              <a:t>Then, the data are normalized using the </a:t>
            </a:r>
            <a:r>
              <a:rPr lang="en-US" sz="1800" kern="0" spc="-50" dirty="0" err="1">
                <a:solidFill>
                  <a:srgbClr val="000000"/>
                </a:solidFill>
                <a:effectLst/>
                <a:latin typeface="한양신명조"/>
                <a:ea typeface="한양신명조"/>
              </a:rPr>
              <a:t>MinMax</a:t>
            </a:r>
            <a:r>
              <a:rPr lang="en-US" sz="1800" kern="0" spc="-50" dirty="0">
                <a:solidFill>
                  <a:srgbClr val="000000"/>
                </a:solidFill>
                <a:effectLst/>
                <a:latin typeface="한양신명조"/>
                <a:ea typeface="한양신명조"/>
              </a:rPr>
              <a:t> method, the -1 to 1 rescaling approach</a:t>
            </a:r>
            <a:endParaRPr lang="en-US" sz="1800" kern="0" dirty="0">
              <a:solidFill>
                <a:srgbClr val="000000"/>
              </a:solidFill>
              <a:effectLst/>
              <a:latin typeface="한양신명조"/>
            </a:endParaRPr>
          </a:p>
        </p:txBody>
      </p:sp>
      <p:pic>
        <p:nvPicPr>
          <p:cNvPr id="5122" name="Picture 2" descr="python - Can someone explain to me how MinMaxScaler() works? - Stack  Overflow">
            <a:extLst>
              <a:ext uri="{FF2B5EF4-FFF2-40B4-BE49-F238E27FC236}">
                <a16:creationId xmlns:a16="http://schemas.microsoft.com/office/drawing/2014/main" id="{F0EEE355-0519-442E-3A72-66D6CF9FD9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2302" y="2905124"/>
            <a:ext cx="4056596" cy="904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7763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A31A6-EB81-B59C-3AE6-E9015E4B78AC}"/>
              </a:ext>
            </a:extLst>
          </p:cNvPr>
          <p:cNvSpPr>
            <a:spLocks noGrp="1"/>
          </p:cNvSpPr>
          <p:nvPr>
            <p:ph idx="1"/>
          </p:nvPr>
        </p:nvSpPr>
        <p:spPr>
          <a:xfrm>
            <a:off x="378821" y="1098668"/>
            <a:ext cx="2752568" cy="514904"/>
          </a:xfrm>
        </p:spPr>
        <p:txBody>
          <a:bodyPr>
            <a:normAutofit fontScale="77500" lnSpcReduction="20000"/>
          </a:bodyPr>
          <a:lstStyle/>
          <a:p>
            <a:r>
              <a:rPr lang="en-US" dirty="0"/>
              <a:t>Data Preprocessing</a:t>
            </a:r>
          </a:p>
        </p:txBody>
      </p:sp>
      <p:sp>
        <p:nvSpPr>
          <p:cNvPr id="11" name="Slide Number Placeholder 10">
            <a:extLst>
              <a:ext uri="{FF2B5EF4-FFF2-40B4-BE49-F238E27FC236}">
                <a16:creationId xmlns:a16="http://schemas.microsoft.com/office/drawing/2014/main" id="{C9EA4C25-599C-38B5-A796-22C6FBA7087A}"/>
              </a:ext>
            </a:extLst>
          </p:cNvPr>
          <p:cNvSpPr>
            <a:spLocks noGrp="1"/>
          </p:cNvSpPr>
          <p:nvPr>
            <p:ph type="sldNum" sz="quarter" idx="12"/>
          </p:nvPr>
        </p:nvSpPr>
        <p:spPr/>
        <p:txBody>
          <a:bodyPr/>
          <a:lstStyle/>
          <a:p>
            <a:fld id="{3FE5B538-B59D-40BE-A71D-808D1A583C60}" type="slidenum">
              <a:rPr lang="en-US" smtClean="0"/>
              <a:t>8</a:t>
            </a:fld>
            <a:endParaRPr lang="en-US"/>
          </a:p>
        </p:txBody>
      </p:sp>
      <p:pic>
        <p:nvPicPr>
          <p:cNvPr id="12" name="그림 6" descr="텍스트이(가) 표시된 사진&#10;&#10;자동 생성된 설명">
            <a:extLst>
              <a:ext uri="{FF2B5EF4-FFF2-40B4-BE49-F238E27FC236}">
                <a16:creationId xmlns:a16="http://schemas.microsoft.com/office/drawing/2014/main" id="{55F9D8A3-DF34-0697-C696-4D948ACA16A3}"/>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13" name="Title 1">
            <a:extLst>
              <a:ext uri="{FF2B5EF4-FFF2-40B4-BE49-F238E27FC236}">
                <a16:creationId xmlns:a16="http://schemas.microsoft.com/office/drawing/2014/main" id="{1D2803E2-2778-D73D-9D85-2D314BA1D3E4}"/>
              </a:ext>
            </a:extLst>
          </p:cNvPr>
          <p:cNvSpPr txBox="1">
            <a:spLocks/>
          </p:cNvSpPr>
          <p:nvPr/>
        </p:nvSpPr>
        <p:spPr bwMode="auto">
          <a:xfrm>
            <a:off x="951319" y="106533"/>
            <a:ext cx="1028936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System Overview</a:t>
            </a:r>
            <a:endParaRPr lang="en-US" sz="1100" kern="0" dirty="0"/>
          </a:p>
        </p:txBody>
      </p:sp>
      <p:cxnSp>
        <p:nvCxnSpPr>
          <p:cNvPr id="14" name="Straight Connector 13">
            <a:extLst>
              <a:ext uri="{FF2B5EF4-FFF2-40B4-BE49-F238E27FC236}">
                <a16:creationId xmlns:a16="http://schemas.microsoft.com/office/drawing/2014/main" id="{D126E861-39EA-AA3E-CAD3-36762820A410}"/>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A89AF7A-ED56-6E8A-94DD-FE9CC44E026D}"/>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D9908E1A-362D-4443-1503-FC2EE2B26EFE}"/>
              </a:ext>
            </a:extLst>
          </p:cNvPr>
          <p:cNvPicPr>
            <a:picLocks noChangeAspect="1"/>
          </p:cNvPicPr>
          <p:nvPr/>
        </p:nvPicPr>
        <p:blipFill>
          <a:blip r:embed="rId3"/>
          <a:stretch>
            <a:fillRect/>
          </a:stretch>
        </p:blipFill>
        <p:spPr>
          <a:xfrm>
            <a:off x="951319" y="1776220"/>
            <a:ext cx="4679455" cy="3314929"/>
          </a:xfrm>
          <a:prstGeom prst="rect">
            <a:avLst/>
          </a:prstGeom>
        </p:spPr>
      </p:pic>
      <p:pic>
        <p:nvPicPr>
          <p:cNvPr id="6" name="Picture 5">
            <a:extLst>
              <a:ext uri="{FF2B5EF4-FFF2-40B4-BE49-F238E27FC236}">
                <a16:creationId xmlns:a16="http://schemas.microsoft.com/office/drawing/2014/main" id="{04B32DF5-A229-4B6B-F650-EA5ECB134939}"/>
              </a:ext>
            </a:extLst>
          </p:cNvPr>
          <p:cNvPicPr>
            <a:picLocks noChangeAspect="1"/>
          </p:cNvPicPr>
          <p:nvPr/>
        </p:nvPicPr>
        <p:blipFill>
          <a:blip r:embed="rId4"/>
          <a:stretch>
            <a:fillRect/>
          </a:stretch>
        </p:blipFill>
        <p:spPr>
          <a:xfrm>
            <a:off x="6561228" y="1776219"/>
            <a:ext cx="4614387" cy="3110963"/>
          </a:xfrm>
          <a:prstGeom prst="rect">
            <a:avLst/>
          </a:prstGeom>
        </p:spPr>
      </p:pic>
      <p:sp>
        <p:nvSpPr>
          <p:cNvPr id="8" name="TextBox 7">
            <a:extLst>
              <a:ext uri="{FF2B5EF4-FFF2-40B4-BE49-F238E27FC236}">
                <a16:creationId xmlns:a16="http://schemas.microsoft.com/office/drawing/2014/main" id="{2AAF6EE7-5285-F893-5D80-8D329BDCC8E0}"/>
              </a:ext>
            </a:extLst>
          </p:cNvPr>
          <p:cNvSpPr txBox="1"/>
          <p:nvPr/>
        </p:nvSpPr>
        <p:spPr>
          <a:xfrm>
            <a:off x="411061" y="5253797"/>
            <a:ext cx="10942739" cy="584775"/>
          </a:xfrm>
          <a:prstGeom prst="rect">
            <a:avLst/>
          </a:prstGeom>
          <a:noFill/>
        </p:spPr>
        <p:txBody>
          <a:bodyPr wrap="square" rtlCol="0">
            <a:spAutoFit/>
          </a:bodyPr>
          <a:lstStyle/>
          <a:p>
            <a:pPr algn="ctr"/>
            <a:r>
              <a:rPr lang="en-US" sz="1600" dirty="0"/>
              <a:t>Correlation checking uses a correlation matrix and takes features that have the highest correlation, and we get </a:t>
            </a:r>
            <a:r>
              <a:rPr lang="en-US" sz="1600" kern="0" spc="-50" dirty="0">
                <a:solidFill>
                  <a:srgbClr val="000000"/>
                </a:solidFill>
                <a:effectLst/>
                <a:latin typeface="한양신명조"/>
                <a:ea typeface="한양신명조"/>
              </a:rPr>
              <a:t>temperature, relative humidity, solar radiation, sunshine in seconds per hour, and precipitation per hour as the highest correlation</a:t>
            </a:r>
            <a:endParaRPr lang="en-US" sz="1600" kern="0" dirty="0">
              <a:solidFill>
                <a:srgbClr val="000000"/>
              </a:solidFill>
              <a:effectLst/>
              <a:latin typeface="한양신명조"/>
            </a:endParaRPr>
          </a:p>
        </p:txBody>
      </p:sp>
    </p:spTree>
    <p:extLst>
      <p:ext uri="{BB962C8B-B14F-4D97-AF65-F5344CB8AC3E}">
        <p14:creationId xmlns:p14="http://schemas.microsoft.com/office/powerpoint/2010/main" val="705741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C9EA4C25-599C-38B5-A796-22C6FBA7087A}"/>
              </a:ext>
            </a:extLst>
          </p:cNvPr>
          <p:cNvSpPr>
            <a:spLocks noGrp="1"/>
          </p:cNvSpPr>
          <p:nvPr>
            <p:ph type="sldNum" sz="quarter" idx="12"/>
          </p:nvPr>
        </p:nvSpPr>
        <p:spPr/>
        <p:txBody>
          <a:bodyPr/>
          <a:lstStyle/>
          <a:p>
            <a:fld id="{3FE5B538-B59D-40BE-A71D-808D1A583C60}" type="slidenum">
              <a:rPr lang="en-US" smtClean="0"/>
              <a:t>9</a:t>
            </a:fld>
            <a:endParaRPr lang="en-US"/>
          </a:p>
        </p:txBody>
      </p:sp>
      <p:pic>
        <p:nvPicPr>
          <p:cNvPr id="12" name="그림 6" descr="텍스트이(가) 표시된 사진&#10;&#10;자동 생성된 설명">
            <a:extLst>
              <a:ext uri="{FF2B5EF4-FFF2-40B4-BE49-F238E27FC236}">
                <a16:creationId xmlns:a16="http://schemas.microsoft.com/office/drawing/2014/main" id="{55F9D8A3-DF34-0697-C696-4D948ACA16A3}"/>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13" name="Title 1">
            <a:extLst>
              <a:ext uri="{FF2B5EF4-FFF2-40B4-BE49-F238E27FC236}">
                <a16:creationId xmlns:a16="http://schemas.microsoft.com/office/drawing/2014/main" id="{1D2803E2-2778-D73D-9D85-2D314BA1D3E4}"/>
              </a:ext>
            </a:extLst>
          </p:cNvPr>
          <p:cNvSpPr txBox="1">
            <a:spLocks/>
          </p:cNvSpPr>
          <p:nvPr/>
        </p:nvSpPr>
        <p:spPr bwMode="auto">
          <a:xfrm>
            <a:off x="951319" y="106533"/>
            <a:ext cx="1028936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System Overview</a:t>
            </a:r>
            <a:endParaRPr lang="en-US" sz="1100" kern="0" dirty="0"/>
          </a:p>
        </p:txBody>
      </p:sp>
      <p:cxnSp>
        <p:nvCxnSpPr>
          <p:cNvPr id="14" name="Straight Connector 13">
            <a:extLst>
              <a:ext uri="{FF2B5EF4-FFF2-40B4-BE49-F238E27FC236}">
                <a16:creationId xmlns:a16="http://schemas.microsoft.com/office/drawing/2014/main" id="{D126E861-39EA-AA3E-CAD3-36762820A410}"/>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A89AF7A-ED56-6E8A-94DD-FE9CC44E026D}"/>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AAF6EE7-5285-F893-5D80-8D329BDCC8E0}"/>
              </a:ext>
            </a:extLst>
          </p:cNvPr>
          <p:cNvSpPr txBox="1"/>
          <p:nvPr/>
        </p:nvSpPr>
        <p:spPr>
          <a:xfrm>
            <a:off x="297942" y="4526902"/>
            <a:ext cx="10942739" cy="338554"/>
          </a:xfrm>
          <a:prstGeom prst="rect">
            <a:avLst/>
          </a:prstGeom>
          <a:noFill/>
        </p:spPr>
        <p:txBody>
          <a:bodyPr wrap="square" rtlCol="0">
            <a:spAutoFit/>
          </a:bodyPr>
          <a:lstStyle/>
          <a:p>
            <a:pPr algn="ctr"/>
            <a:r>
              <a:rPr lang="en-US" sz="1600" kern="0" dirty="0">
                <a:solidFill>
                  <a:srgbClr val="000000"/>
                </a:solidFill>
                <a:effectLst/>
                <a:latin typeface="한양신명조"/>
              </a:rPr>
              <a:t>We used 1 Month data to predict 1 week future data</a:t>
            </a:r>
          </a:p>
        </p:txBody>
      </p:sp>
      <p:sp>
        <p:nvSpPr>
          <p:cNvPr id="2" name="Rectangle 1">
            <a:extLst>
              <a:ext uri="{FF2B5EF4-FFF2-40B4-BE49-F238E27FC236}">
                <a16:creationId xmlns:a16="http://schemas.microsoft.com/office/drawing/2014/main" id="{F821D95A-AAB4-0EBC-6D29-1ECF4F67C6F4}"/>
              </a:ext>
            </a:extLst>
          </p:cNvPr>
          <p:cNvSpPr/>
          <p:nvPr/>
        </p:nvSpPr>
        <p:spPr>
          <a:xfrm>
            <a:off x="2674189" y="2383628"/>
            <a:ext cx="4011283" cy="38818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8904CE9E-56A3-B2C8-A909-C92911F61647}"/>
              </a:ext>
            </a:extLst>
          </p:cNvPr>
          <p:cNvSpPr/>
          <p:nvPr/>
        </p:nvSpPr>
        <p:spPr>
          <a:xfrm>
            <a:off x="6715663" y="2383627"/>
            <a:ext cx="527651" cy="388189"/>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423469E8-5B40-0033-5AE5-CA1A7EF0F205}"/>
              </a:ext>
            </a:extLst>
          </p:cNvPr>
          <p:cNvSpPr/>
          <p:nvPr/>
        </p:nvSpPr>
        <p:spPr>
          <a:xfrm>
            <a:off x="8912526" y="2383626"/>
            <a:ext cx="527651" cy="3881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E6057367-3504-23C5-32BF-D10396670B5B}"/>
              </a:ext>
            </a:extLst>
          </p:cNvPr>
          <p:cNvSpPr/>
          <p:nvPr/>
        </p:nvSpPr>
        <p:spPr>
          <a:xfrm>
            <a:off x="3201840" y="2820354"/>
            <a:ext cx="4011283" cy="38818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FF3C5602-833A-940B-1599-8D3D9D24C509}"/>
              </a:ext>
            </a:extLst>
          </p:cNvPr>
          <p:cNvSpPr/>
          <p:nvPr/>
        </p:nvSpPr>
        <p:spPr>
          <a:xfrm>
            <a:off x="7243314" y="2820353"/>
            <a:ext cx="527651" cy="388189"/>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61854F8A-F01B-E216-1530-77854AB1CE83}"/>
              </a:ext>
            </a:extLst>
          </p:cNvPr>
          <p:cNvSpPr/>
          <p:nvPr/>
        </p:nvSpPr>
        <p:spPr>
          <a:xfrm>
            <a:off x="8922589" y="2820353"/>
            <a:ext cx="527651" cy="3881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id="{2FCFD80E-5DA7-4D01-EAC7-7454D926E204}"/>
              </a:ext>
            </a:extLst>
          </p:cNvPr>
          <p:cNvSpPr/>
          <p:nvPr/>
        </p:nvSpPr>
        <p:spPr>
          <a:xfrm>
            <a:off x="3729491" y="3257081"/>
            <a:ext cx="4011283" cy="38818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73D69D27-6F9B-989C-8742-CA1D14B01F6A}"/>
              </a:ext>
            </a:extLst>
          </p:cNvPr>
          <p:cNvSpPr/>
          <p:nvPr/>
        </p:nvSpPr>
        <p:spPr>
          <a:xfrm>
            <a:off x="7770965" y="3257080"/>
            <a:ext cx="527651" cy="388189"/>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19" name="Rectangle 18">
            <a:extLst>
              <a:ext uri="{FF2B5EF4-FFF2-40B4-BE49-F238E27FC236}">
                <a16:creationId xmlns:a16="http://schemas.microsoft.com/office/drawing/2014/main" id="{2F68C774-F3A5-5416-AED6-1117895EEE41}"/>
              </a:ext>
            </a:extLst>
          </p:cNvPr>
          <p:cNvSpPr/>
          <p:nvPr/>
        </p:nvSpPr>
        <p:spPr>
          <a:xfrm>
            <a:off x="8922589" y="3257080"/>
            <a:ext cx="527651" cy="3881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0" name="Left Brace 19">
            <a:extLst>
              <a:ext uri="{FF2B5EF4-FFF2-40B4-BE49-F238E27FC236}">
                <a16:creationId xmlns:a16="http://schemas.microsoft.com/office/drawing/2014/main" id="{8CFA6A4D-AFB5-3E3F-E2E7-C38A6ABBCD18}"/>
              </a:ext>
            </a:extLst>
          </p:cNvPr>
          <p:cNvSpPr/>
          <p:nvPr/>
        </p:nvSpPr>
        <p:spPr>
          <a:xfrm>
            <a:off x="2286001" y="2383626"/>
            <a:ext cx="138022" cy="126164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306AD012-53EB-78F6-E0D1-CA1D2D671BC9}"/>
              </a:ext>
            </a:extLst>
          </p:cNvPr>
          <p:cNvSpPr txBox="1"/>
          <p:nvPr/>
        </p:nvSpPr>
        <p:spPr>
          <a:xfrm>
            <a:off x="1147314" y="2869988"/>
            <a:ext cx="1335790" cy="338554"/>
          </a:xfrm>
          <a:prstGeom prst="rect">
            <a:avLst/>
          </a:prstGeom>
          <a:noFill/>
        </p:spPr>
        <p:txBody>
          <a:bodyPr wrap="square" rtlCol="0">
            <a:spAutoFit/>
          </a:bodyPr>
          <a:lstStyle/>
          <a:p>
            <a:pPr algn="ctr"/>
            <a:r>
              <a:rPr lang="en-US" sz="1600" dirty="0"/>
              <a:t>Windows</a:t>
            </a:r>
            <a:endParaRPr lang="en-US" sz="1600" kern="0" dirty="0">
              <a:solidFill>
                <a:srgbClr val="000000"/>
              </a:solidFill>
              <a:effectLst/>
              <a:latin typeface="한양신명조"/>
            </a:endParaRPr>
          </a:p>
        </p:txBody>
      </p:sp>
      <p:sp>
        <p:nvSpPr>
          <p:cNvPr id="22" name="TextBox 21">
            <a:extLst>
              <a:ext uri="{FF2B5EF4-FFF2-40B4-BE49-F238E27FC236}">
                <a16:creationId xmlns:a16="http://schemas.microsoft.com/office/drawing/2014/main" id="{6A5FAAB3-DD06-2D97-5C80-E3EB49DF8DC8}"/>
              </a:ext>
            </a:extLst>
          </p:cNvPr>
          <p:cNvSpPr txBox="1"/>
          <p:nvPr/>
        </p:nvSpPr>
        <p:spPr>
          <a:xfrm>
            <a:off x="3664589" y="2065640"/>
            <a:ext cx="1335790" cy="338554"/>
          </a:xfrm>
          <a:prstGeom prst="rect">
            <a:avLst/>
          </a:prstGeom>
          <a:noFill/>
        </p:spPr>
        <p:txBody>
          <a:bodyPr wrap="square" rtlCol="0">
            <a:spAutoFit/>
          </a:bodyPr>
          <a:lstStyle/>
          <a:p>
            <a:pPr algn="ctr"/>
            <a:r>
              <a:rPr lang="en-US" sz="1600" dirty="0"/>
              <a:t>1 Month Data</a:t>
            </a:r>
            <a:endParaRPr lang="en-US" sz="1600" kern="0" dirty="0">
              <a:solidFill>
                <a:srgbClr val="000000"/>
              </a:solidFill>
              <a:effectLst/>
              <a:latin typeface="한양신명조"/>
            </a:endParaRPr>
          </a:p>
        </p:txBody>
      </p:sp>
      <p:sp>
        <p:nvSpPr>
          <p:cNvPr id="23" name="TextBox 22">
            <a:extLst>
              <a:ext uri="{FF2B5EF4-FFF2-40B4-BE49-F238E27FC236}">
                <a16:creationId xmlns:a16="http://schemas.microsoft.com/office/drawing/2014/main" id="{56AD527D-6B51-3F08-66D8-363E204BFAA1}"/>
              </a:ext>
            </a:extLst>
          </p:cNvPr>
          <p:cNvSpPr txBox="1"/>
          <p:nvPr/>
        </p:nvSpPr>
        <p:spPr>
          <a:xfrm>
            <a:off x="6563919" y="2046681"/>
            <a:ext cx="828920" cy="338554"/>
          </a:xfrm>
          <a:prstGeom prst="rect">
            <a:avLst/>
          </a:prstGeom>
          <a:noFill/>
        </p:spPr>
        <p:txBody>
          <a:bodyPr wrap="square" rtlCol="0">
            <a:spAutoFit/>
          </a:bodyPr>
          <a:lstStyle/>
          <a:p>
            <a:pPr algn="ctr"/>
            <a:r>
              <a:rPr lang="en-US" sz="1600" dirty="0"/>
              <a:t>1 Week</a:t>
            </a:r>
            <a:endParaRPr lang="en-US" sz="1600" kern="0" dirty="0">
              <a:solidFill>
                <a:srgbClr val="000000"/>
              </a:solidFill>
              <a:effectLst/>
              <a:latin typeface="한양신명조"/>
            </a:endParaRPr>
          </a:p>
        </p:txBody>
      </p:sp>
      <p:sp>
        <p:nvSpPr>
          <p:cNvPr id="24" name="TextBox 23">
            <a:extLst>
              <a:ext uri="{FF2B5EF4-FFF2-40B4-BE49-F238E27FC236}">
                <a16:creationId xmlns:a16="http://schemas.microsoft.com/office/drawing/2014/main" id="{27F245CF-BFAA-9D52-CD81-548F2BB632A2}"/>
              </a:ext>
            </a:extLst>
          </p:cNvPr>
          <p:cNvSpPr txBox="1"/>
          <p:nvPr/>
        </p:nvSpPr>
        <p:spPr>
          <a:xfrm>
            <a:off x="8761890" y="2087561"/>
            <a:ext cx="996023" cy="338554"/>
          </a:xfrm>
          <a:prstGeom prst="rect">
            <a:avLst/>
          </a:prstGeom>
          <a:noFill/>
        </p:spPr>
        <p:txBody>
          <a:bodyPr wrap="square" rtlCol="0">
            <a:spAutoFit/>
          </a:bodyPr>
          <a:lstStyle/>
          <a:p>
            <a:pPr algn="ctr"/>
            <a:r>
              <a:rPr lang="en-US" sz="1600" kern="0" dirty="0">
                <a:solidFill>
                  <a:srgbClr val="000000"/>
                </a:solidFill>
                <a:effectLst/>
                <a:latin typeface="한양신명조"/>
              </a:rPr>
              <a:t>Test Data</a:t>
            </a:r>
          </a:p>
        </p:txBody>
      </p:sp>
      <p:sp>
        <p:nvSpPr>
          <p:cNvPr id="25" name="Content Placeholder 2">
            <a:extLst>
              <a:ext uri="{FF2B5EF4-FFF2-40B4-BE49-F238E27FC236}">
                <a16:creationId xmlns:a16="http://schemas.microsoft.com/office/drawing/2014/main" id="{FF62C6C4-0591-4905-F385-687718D94B9C}"/>
              </a:ext>
            </a:extLst>
          </p:cNvPr>
          <p:cNvSpPr txBox="1">
            <a:spLocks/>
          </p:cNvSpPr>
          <p:nvPr/>
        </p:nvSpPr>
        <p:spPr>
          <a:xfrm>
            <a:off x="378821" y="1098668"/>
            <a:ext cx="2752568" cy="51490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Data Preprocessing</a:t>
            </a:r>
            <a:endParaRPr lang="en-US" dirty="0"/>
          </a:p>
        </p:txBody>
      </p:sp>
    </p:spTree>
    <p:extLst>
      <p:ext uri="{BB962C8B-B14F-4D97-AF65-F5344CB8AC3E}">
        <p14:creationId xmlns:p14="http://schemas.microsoft.com/office/powerpoint/2010/main" val="3664863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A31A6-EB81-B59C-3AE6-E9015E4B78AC}"/>
              </a:ext>
            </a:extLst>
          </p:cNvPr>
          <p:cNvSpPr>
            <a:spLocks noGrp="1"/>
          </p:cNvSpPr>
          <p:nvPr>
            <p:ph idx="1"/>
          </p:nvPr>
        </p:nvSpPr>
        <p:spPr>
          <a:xfrm>
            <a:off x="378820" y="1098668"/>
            <a:ext cx="7195171" cy="514904"/>
          </a:xfrm>
        </p:spPr>
        <p:txBody>
          <a:bodyPr>
            <a:normAutofit fontScale="70000" lnSpcReduction="20000"/>
          </a:bodyPr>
          <a:lstStyle/>
          <a:p>
            <a:r>
              <a:rPr lang="en-US" dirty="0"/>
              <a:t>Deep learning model based on Power Generation forecasting</a:t>
            </a:r>
          </a:p>
        </p:txBody>
      </p:sp>
      <p:sp>
        <p:nvSpPr>
          <p:cNvPr id="11" name="Slide Number Placeholder 10">
            <a:extLst>
              <a:ext uri="{FF2B5EF4-FFF2-40B4-BE49-F238E27FC236}">
                <a16:creationId xmlns:a16="http://schemas.microsoft.com/office/drawing/2014/main" id="{C9EA4C25-599C-38B5-A796-22C6FBA7087A}"/>
              </a:ext>
            </a:extLst>
          </p:cNvPr>
          <p:cNvSpPr>
            <a:spLocks noGrp="1"/>
          </p:cNvSpPr>
          <p:nvPr>
            <p:ph type="sldNum" sz="quarter" idx="12"/>
          </p:nvPr>
        </p:nvSpPr>
        <p:spPr/>
        <p:txBody>
          <a:bodyPr/>
          <a:lstStyle/>
          <a:p>
            <a:fld id="{3FE5B538-B59D-40BE-A71D-808D1A583C60}" type="slidenum">
              <a:rPr lang="en-US" smtClean="0"/>
              <a:t>10</a:t>
            </a:fld>
            <a:endParaRPr lang="en-US"/>
          </a:p>
        </p:txBody>
      </p:sp>
      <p:pic>
        <p:nvPicPr>
          <p:cNvPr id="12" name="그림 6" descr="텍스트이(가) 표시된 사진&#10;&#10;자동 생성된 설명">
            <a:extLst>
              <a:ext uri="{FF2B5EF4-FFF2-40B4-BE49-F238E27FC236}">
                <a16:creationId xmlns:a16="http://schemas.microsoft.com/office/drawing/2014/main" id="{55F9D8A3-DF34-0697-C696-4D948ACA16A3}"/>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13" name="Title 1">
            <a:extLst>
              <a:ext uri="{FF2B5EF4-FFF2-40B4-BE49-F238E27FC236}">
                <a16:creationId xmlns:a16="http://schemas.microsoft.com/office/drawing/2014/main" id="{1D2803E2-2778-D73D-9D85-2D314BA1D3E4}"/>
              </a:ext>
            </a:extLst>
          </p:cNvPr>
          <p:cNvSpPr txBox="1">
            <a:spLocks/>
          </p:cNvSpPr>
          <p:nvPr/>
        </p:nvSpPr>
        <p:spPr bwMode="auto">
          <a:xfrm>
            <a:off x="951319" y="106533"/>
            <a:ext cx="1028936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System Overview</a:t>
            </a:r>
            <a:endParaRPr lang="en-US" sz="1100" kern="0" dirty="0"/>
          </a:p>
        </p:txBody>
      </p:sp>
      <p:cxnSp>
        <p:nvCxnSpPr>
          <p:cNvPr id="14" name="Straight Connector 13">
            <a:extLst>
              <a:ext uri="{FF2B5EF4-FFF2-40B4-BE49-F238E27FC236}">
                <a16:creationId xmlns:a16="http://schemas.microsoft.com/office/drawing/2014/main" id="{D126E861-39EA-AA3E-CAD3-36762820A410}"/>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A89AF7A-ED56-6E8A-94DD-FE9CC44E026D}"/>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AAF6EE7-5285-F893-5D80-8D329BDCC8E0}"/>
              </a:ext>
            </a:extLst>
          </p:cNvPr>
          <p:cNvSpPr txBox="1"/>
          <p:nvPr/>
        </p:nvSpPr>
        <p:spPr>
          <a:xfrm>
            <a:off x="471414" y="4605763"/>
            <a:ext cx="10942739" cy="584775"/>
          </a:xfrm>
          <a:prstGeom prst="rect">
            <a:avLst/>
          </a:prstGeom>
          <a:noFill/>
        </p:spPr>
        <p:txBody>
          <a:bodyPr wrap="square" rtlCol="0">
            <a:spAutoFit/>
          </a:bodyPr>
          <a:lstStyle/>
          <a:p>
            <a:pPr algn="ctr"/>
            <a:r>
              <a:rPr lang="en-US" sz="1600" kern="0" dirty="0">
                <a:solidFill>
                  <a:srgbClr val="000000"/>
                </a:solidFill>
                <a:effectLst/>
                <a:latin typeface="한양신명조"/>
              </a:rPr>
              <a:t>We set the batch size to 32, the hyperparameter Adam as the optimizer with a learning rate of 0.001, the iteration to 200, and the callback function to terminate if the data has already reached convergence or is close to overfitting.</a:t>
            </a:r>
          </a:p>
        </p:txBody>
      </p:sp>
      <p:sp>
        <p:nvSpPr>
          <p:cNvPr id="6" name="Rectangle 5">
            <a:extLst>
              <a:ext uri="{FF2B5EF4-FFF2-40B4-BE49-F238E27FC236}">
                <a16:creationId xmlns:a16="http://schemas.microsoft.com/office/drawing/2014/main" id="{D6441BB3-2ED4-0D7D-BF11-2D201E9C9020}"/>
              </a:ext>
            </a:extLst>
          </p:cNvPr>
          <p:cNvSpPr/>
          <p:nvPr/>
        </p:nvSpPr>
        <p:spPr>
          <a:xfrm>
            <a:off x="2095273" y="2208864"/>
            <a:ext cx="1616143" cy="5755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Weather Data</a:t>
            </a:r>
          </a:p>
        </p:txBody>
      </p:sp>
      <p:sp>
        <p:nvSpPr>
          <p:cNvPr id="25" name="Rectangle 24">
            <a:extLst>
              <a:ext uri="{FF2B5EF4-FFF2-40B4-BE49-F238E27FC236}">
                <a16:creationId xmlns:a16="http://schemas.microsoft.com/office/drawing/2014/main" id="{1122EDBF-CD9F-074F-7B60-C5D7F88D81CC}"/>
              </a:ext>
            </a:extLst>
          </p:cNvPr>
          <p:cNvSpPr/>
          <p:nvPr/>
        </p:nvSpPr>
        <p:spPr>
          <a:xfrm>
            <a:off x="1983130" y="2973852"/>
            <a:ext cx="1728286" cy="5755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Power Generation Data</a:t>
            </a:r>
          </a:p>
        </p:txBody>
      </p:sp>
      <p:sp>
        <p:nvSpPr>
          <p:cNvPr id="26" name="Rectangle 25">
            <a:extLst>
              <a:ext uri="{FF2B5EF4-FFF2-40B4-BE49-F238E27FC236}">
                <a16:creationId xmlns:a16="http://schemas.microsoft.com/office/drawing/2014/main" id="{C4269E80-E2FF-7B47-6A79-3CAAC7007B00}"/>
              </a:ext>
            </a:extLst>
          </p:cNvPr>
          <p:cNvSpPr/>
          <p:nvPr/>
        </p:nvSpPr>
        <p:spPr>
          <a:xfrm>
            <a:off x="4214497" y="2595954"/>
            <a:ext cx="1728286" cy="5755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 Processing</a:t>
            </a:r>
          </a:p>
        </p:txBody>
      </p:sp>
      <p:pic>
        <p:nvPicPr>
          <p:cNvPr id="28" name="그림 7">
            <a:extLst>
              <a:ext uri="{FF2B5EF4-FFF2-40B4-BE49-F238E27FC236}">
                <a16:creationId xmlns:a16="http://schemas.microsoft.com/office/drawing/2014/main" id="{56529A48-0573-C3F0-2FFB-BFF3981DE49A}"/>
              </a:ext>
            </a:extLst>
          </p:cNvPr>
          <p:cNvPicPr>
            <a:picLocks noChangeAspect="1"/>
          </p:cNvPicPr>
          <p:nvPr/>
        </p:nvPicPr>
        <p:blipFill rotWithShape="1">
          <a:blip r:embed="rId3"/>
          <a:srcRect r="80339" b="33577"/>
          <a:stretch/>
        </p:blipFill>
        <p:spPr>
          <a:xfrm>
            <a:off x="6682765" y="2326120"/>
            <a:ext cx="706612" cy="1115192"/>
          </a:xfrm>
          <a:prstGeom prst="rect">
            <a:avLst/>
          </a:prstGeom>
        </p:spPr>
      </p:pic>
      <p:sp>
        <p:nvSpPr>
          <p:cNvPr id="29" name="Rectangle 28">
            <a:extLst>
              <a:ext uri="{FF2B5EF4-FFF2-40B4-BE49-F238E27FC236}">
                <a16:creationId xmlns:a16="http://schemas.microsoft.com/office/drawing/2014/main" id="{B1D3164E-DFD3-E77E-1884-DB0AA65DF887}"/>
              </a:ext>
            </a:extLst>
          </p:cNvPr>
          <p:cNvSpPr/>
          <p:nvPr/>
        </p:nvSpPr>
        <p:spPr>
          <a:xfrm>
            <a:off x="8103442" y="2613882"/>
            <a:ext cx="1403228" cy="5755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Forecast Trained Model</a:t>
            </a:r>
          </a:p>
        </p:txBody>
      </p:sp>
      <p:cxnSp>
        <p:nvCxnSpPr>
          <p:cNvPr id="31" name="Connector: Elbow 30">
            <a:extLst>
              <a:ext uri="{FF2B5EF4-FFF2-40B4-BE49-F238E27FC236}">
                <a16:creationId xmlns:a16="http://schemas.microsoft.com/office/drawing/2014/main" id="{A56A331B-1B8E-F711-DA88-E109D0B839E3}"/>
              </a:ext>
            </a:extLst>
          </p:cNvPr>
          <p:cNvCxnSpPr>
            <a:stCxn id="6" idx="3"/>
            <a:endCxn id="26" idx="1"/>
          </p:cNvCxnSpPr>
          <p:nvPr/>
        </p:nvCxnSpPr>
        <p:spPr>
          <a:xfrm>
            <a:off x="3711416" y="2496626"/>
            <a:ext cx="503081" cy="38709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0DE57702-0559-22ED-6964-A6253640DD3A}"/>
              </a:ext>
            </a:extLst>
          </p:cNvPr>
          <p:cNvCxnSpPr>
            <a:cxnSpLocks/>
            <a:stCxn id="25" idx="3"/>
            <a:endCxn id="26" idx="1"/>
          </p:cNvCxnSpPr>
          <p:nvPr/>
        </p:nvCxnSpPr>
        <p:spPr>
          <a:xfrm flipV="1">
            <a:off x="3711416" y="2883716"/>
            <a:ext cx="503081" cy="37789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46D242F6-2220-69A0-E2A0-455E32421401}"/>
              </a:ext>
            </a:extLst>
          </p:cNvPr>
          <p:cNvCxnSpPr>
            <a:cxnSpLocks/>
            <a:stCxn id="26" idx="3"/>
            <a:endCxn id="28" idx="1"/>
          </p:cNvCxnSpPr>
          <p:nvPr/>
        </p:nvCxnSpPr>
        <p:spPr>
          <a:xfrm>
            <a:off x="5942783" y="2883716"/>
            <a:ext cx="739982" cy="127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44F19759-5FF5-B2B9-F991-5FDC3533F6B4}"/>
              </a:ext>
            </a:extLst>
          </p:cNvPr>
          <p:cNvCxnSpPr>
            <a:cxnSpLocks/>
            <a:stCxn id="28" idx="3"/>
            <a:endCxn id="29" idx="1"/>
          </p:cNvCxnSpPr>
          <p:nvPr/>
        </p:nvCxnSpPr>
        <p:spPr>
          <a:xfrm>
            <a:off x="7389377" y="2883716"/>
            <a:ext cx="714065" cy="1792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BDCD60D7-8C46-45CE-4284-2CC7A3AD3CE9}"/>
              </a:ext>
            </a:extLst>
          </p:cNvPr>
          <p:cNvSpPr/>
          <p:nvPr/>
        </p:nvSpPr>
        <p:spPr>
          <a:xfrm>
            <a:off x="6249216" y="3465124"/>
            <a:ext cx="1728286" cy="4108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sv-SE" sz="1200" dirty="0"/>
              <a:t>LSTM, Bi-LSTM, Stacked Bi-LSTM, RNN, and GRU.</a:t>
            </a:r>
            <a:endParaRPr lang="en-US" sz="1200" dirty="0"/>
          </a:p>
        </p:txBody>
      </p:sp>
    </p:spTree>
    <p:extLst>
      <p:ext uri="{BB962C8B-B14F-4D97-AF65-F5344CB8AC3E}">
        <p14:creationId xmlns:p14="http://schemas.microsoft.com/office/powerpoint/2010/main" val="538685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A31A6-EB81-B59C-3AE6-E9015E4B78AC}"/>
              </a:ext>
            </a:extLst>
          </p:cNvPr>
          <p:cNvSpPr>
            <a:spLocks noGrp="1"/>
          </p:cNvSpPr>
          <p:nvPr>
            <p:ph idx="1"/>
          </p:nvPr>
        </p:nvSpPr>
        <p:spPr>
          <a:xfrm>
            <a:off x="378820" y="1098668"/>
            <a:ext cx="7195171" cy="514904"/>
          </a:xfrm>
        </p:spPr>
        <p:txBody>
          <a:bodyPr>
            <a:normAutofit fontScale="70000" lnSpcReduction="20000"/>
          </a:bodyPr>
          <a:lstStyle/>
          <a:p>
            <a:r>
              <a:rPr lang="en-US" dirty="0"/>
              <a:t>Deep learning model based on Power Generation forecasting</a:t>
            </a:r>
          </a:p>
        </p:txBody>
      </p:sp>
      <p:sp>
        <p:nvSpPr>
          <p:cNvPr id="11" name="Slide Number Placeholder 10">
            <a:extLst>
              <a:ext uri="{FF2B5EF4-FFF2-40B4-BE49-F238E27FC236}">
                <a16:creationId xmlns:a16="http://schemas.microsoft.com/office/drawing/2014/main" id="{C9EA4C25-599C-38B5-A796-22C6FBA7087A}"/>
              </a:ext>
            </a:extLst>
          </p:cNvPr>
          <p:cNvSpPr>
            <a:spLocks noGrp="1"/>
          </p:cNvSpPr>
          <p:nvPr>
            <p:ph type="sldNum" sz="quarter" idx="12"/>
          </p:nvPr>
        </p:nvSpPr>
        <p:spPr/>
        <p:txBody>
          <a:bodyPr/>
          <a:lstStyle/>
          <a:p>
            <a:fld id="{3FE5B538-B59D-40BE-A71D-808D1A583C60}" type="slidenum">
              <a:rPr lang="en-US" smtClean="0"/>
              <a:t>11</a:t>
            </a:fld>
            <a:endParaRPr lang="en-US"/>
          </a:p>
        </p:txBody>
      </p:sp>
      <p:pic>
        <p:nvPicPr>
          <p:cNvPr id="12" name="그림 6" descr="텍스트이(가) 표시된 사진&#10;&#10;자동 생성된 설명">
            <a:extLst>
              <a:ext uri="{FF2B5EF4-FFF2-40B4-BE49-F238E27FC236}">
                <a16:creationId xmlns:a16="http://schemas.microsoft.com/office/drawing/2014/main" id="{55F9D8A3-DF34-0697-C696-4D948ACA16A3}"/>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13" name="Title 1">
            <a:extLst>
              <a:ext uri="{FF2B5EF4-FFF2-40B4-BE49-F238E27FC236}">
                <a16:creationId xmlns:a16="http://schemas.microsoft.com/office/drawing/2014/main" id="{1D2803E2-2778-D73D-9D85-2D314BA1D3E4}"/>
              </a:ext>
            </a:extLst>
          </p:cNvPr>
          <p:cNvSpPr txBox="1">
            <a:spLocks/>
          </p:cNvSpPr>
          <p:nvPr/>
        </p:nvSpPr>
        <p:spPr bwMode="auto">
          <a:xfrm>
            <a:off x="951319" y="106533"/>
            <a:ext cx="1028936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System Overview</a:t>
            </a:r>
            <a:endParaRPr lang="en-US" sz="1100" kern="0" dirty="0"/>
          </a:p>
        </p:txBody>
      </p:sp>
      <p:cxnSp>
        <p:nvCxnSpPr>
          <p:cNvPr id="14" name="Straight Connector 13">
            <a:extLst>
              <a:ext uri="{FF2B5EF4-FFF2-40B4-BE49-F238E27FC236}">
                <a16:creationId xmlns:a16="http://schemas.microsoft.com/office/drawing/2014/main" id="{D126E861-39EA-AA3E-CAD3-36762820A410}"/>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A89AF7A-ED56-6E8A-94DD-FE9CC44E026D}"/>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AAF6EE7-5285-F893-5D80-8D329BDCC8E0}"/>
              </a:ext>
            </a:extLst>
          </p:cNvPr>
          <p:cNvSpPr txBox="1"/>
          <p:nvPr/>
        </p:nvSpPr>
        <p:spPr>
          <a:xfrm>
            <a:off x="411061" y="3649361"/>
            <a:ext cx="10942739" cy="1794594"/>
          </a:xfrm>
          <a:prstGeom prst="rect">
            <a:avLst/>
          </a:prstGeom>
          <a:noFill/>
        </p:spPr>
        <p:txBody>
          <a:bodyPr wrap="square" rtlCol="0">
            <a:spAutoFit/>
          </a:bodyPr>
          <a:lstStyle/>
          <a:p>
            <a:pPr marL="0" marR="0" indent="222250" algn="just" fontAlgn="base" latinLnBrk="1">
              <a:lnSpc>
                <a:spcPct val="158000"/>
              </a:lnSpc>
              <a:spcBef>
                <a:spcPts val="0"/>
              </a:spcBef>
              <a:spcAft>
                <a:spcPts val="0"/>
              </a:spcAft>
            </a:pPr>
            <a:r>
              <a:rPr lang="en-US" sz="1800" kern="0" spc="-50" dirty="0">
                <a:solidFill>
                  <a:srgbClr val="000000"/>
                </a:solidFill>
                <a:effectLst/>
                <a:latin typeface="한양신명조"/>
                <a:ea typeface="한양신명조"/>
              </a:rPr>
              <a:t>We present several findings regarding the predicted timeliness of time series data. Loss, validation loss, and mean square error (MSE) are the essential measures for evaluating a model's quality. The RMSE, the mean absolute error (MAE), and the regression score (R-squared or R2 score) were used to evaluate the accuracy of the predictions. We use above equation to determine the error metrics.</a:t>
            </a:r>
            <a:endParaRPr lang="en-US" sz="1800" kern="0" dirty="0">
              <a:solidFill>
                <a:srgbClr val="000000"/>
              </a:solidFill>
              <a:effectLst/>
              <a:latin typeface="한양신명조"/>
            </a:endParaRPr>
          </a:p>
        </p:txBody>
      </p:sp>
      <p:pic>
        <p:nvPicPr>
          <p:cNvPr id="2" name="_x617042216">
            <a:extLst>
              <a:ext uri="{FF2B5EF4-FFF2-40B4-BE49-F238E27FC236}">
                <a16:creationId xmlns:a16="http://schemas.microsoft.com/office/drawing/2014/main" id="{60CC2535-DF7E-F61B-8C71-13126BCC3B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552" y="2321699"/>
            <a:ext cx="2086700" cy="530517"/>
          </a:xfrm>
          <a:prstGeom prst="rect">
            <a:avLst/>
          </a:prstGeom>
          <a:noFill/>
          <a:extLst>
            <a:ext uri="{909E8E84-426E-40DD-AFC4-6F175D3DCCD1}">
              <a14:hiddenFill xmlns:a14="http://schemas.microsoft.com/office/drawing/2010/main">
                <a:solidFill>
                  <a:srgbClr val="FFFFFF"/>
                </a:solidFill>
              </a14:hiddenFill>
            </a:ext>
          </a:extLst>
        </p:spPr>
      </p:pic>
      <p:pic>
        <p:nvPicPr>
          <p:cNvPr id="4" name="_x617044592">
            <a:extLst>
              <a:ext uri="{FF2B5EF4-FFF2-40B4-BE49-F238E27FC236}">
                <a16:creationId xmlns:a16="http://schemas.microsoft.com/office/drawing/2014/main" id="{8DD898F4-1B3A-7B41-8984-B5CCCA23A3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9671" y="2103954"/>
            <a:ext cx="1865643" cy="792088"/>
          </a:xfrm>
          <a:prstGeom prst="rect">
            <a:avLst/>
          </a:prstGeom>
          <a:noFill/>
          <a:extLst>
            <a:ext uri="{909E8E84-426E-40DD-AFC4-6F175D3DCCD1}">
              <a14:hiddenFill xmlns:a14="http://schemas.microsoft.com/office/drawing/2010/main">
                <a:solidFill>
                  <a:srgbClr val="FFFFFF"/>
                </a:solidFill>
              </a14:hiddenFill>
            </a:ext>
          </a:extLst>
        </p:spPr>
      </p:pic>
      <p:pic>
        <p:nvPicPr>
          <p:cNvPr id="5" name="_x617043512">
            <a:extLst>
              <a:ext uri="{FF2B5EF4-FFF2-40B4-BE49-F238E27FC236}">
                <a16:creationId xmlns:a16="http://schemas.microsoft.com/office/drawing/2014/main" id="{08845703-FB42-22C3-7CEE-A3DEDC0E0D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51733" y="2258022"/>
            <a:ext cx="1943305" cy="5941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773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73637319-FDAF-9F52-B0F5-9D9918AE639F}"/>
              </a:ext>
            </a:extLst>
          </p:cNvPr>
          <p:cNvSpPr>
            <a:spLocks noGrp="1"/>
          </p:cNvSpPr>
          <p:nvPr>
            <p:ph type="sldNum" sz="quarter" idx="12"/>
          </p:nvPr>
        </p:nvSpPr>
        <p:spPr/>
        <p:txBody>
          <a:bodyPr/>
          <a:lstStyle/>
          <a:p>
            <a:fld id="{3FE5B538-B59D-40BE-A71D-808D1A583C60}" type="slidenum">
              <a:rPr lang="en-US" smtClean="0"/>
              <a:t>12</a:t>
            </a:fld>
            <a:endParaRPr lang="en-US"/>
          </a:p>
        </p:txBody>
      </p:sp>
      <p:pic>
        <p:nvPicPr>
          <p:cNvPr id="16" name="그림 6" descr="텍스트이(가) 표시된 사진&#10;&#10;자동 생성된 설명">
            <a:extLst>
              <a:ext uri="{FF2B5EF4-FFF2-40B4-BE49-F238E27FC236}">
                <a16:creationId xmlns:a16="http://schemas.microsoft.com/office/drawing/2014/main" id="{ED867D5B-8768-2D82-ABE1-155266002A60}"/>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17" name="Title 1">
            <a:extLst>
              <a:ext uri="{FF2B5EF4-FFF2-40B4-BE49-F238E27FC236}">
                <a16:creationId xmlns:a16="http://schemas.microsoft.com/office/drawing/2014/main" id="{2DA95272-8246-49E4-A3DE-6D5D34D32C20}"/>
              </a:ext>
            </a:extLst>
          </p:cNvPr>
          <p:cNvSpPr txBox="1">
            <a:spLocks/>
          </p:cNvSpPr>
          <p:nvPr/>
        </p:nvSpPr>
        <p:spPr bwMode="auto">
          <a:xfrm>
            <a:off x="1031846" y="88874"/>
            <a:ext cx="938671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Result and Discussion</a:t>
            </a:r>
            <a:endParaRPr lang="en-US" sz="1100" kern="0" dirty="0"/>
          </a:p>
        </p:txBody>
      </p:sp>
      <p:cxnSp>
        <p:nvCxnSpPr>
          <p:cNvPr id="18" name="Straight Connector 17">
            <a:extLst>
              <a:ext uri="{FF2B5EF4-FFF2-40B4-BE49-F238E27FC236}">
                <a16:creationId xmlns:a16="http://schemas.microsoft.com/office/drawing/2014/main" id="{16E8FDFF-25E3-C9FC-AEB7-C7EFE2318F51}"/>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7B89C91-9823-0AC9-8577-E87D2F10392B}"/>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882E1BEE-5D30-EB68-FA6B-99131F8D5F7A}"/>
              </a:ext>
            </a:extLst>
          </p:cNvPr>
          <p:cNvGraphicFramePr>
            <a:graphicFrameLocks noGrp="1"/>
          </p:cNvGraphicFramePr>
          <p:nvPr>
            <p:extLst>
              <p:ext uri="{D42A27DB-BD31-4B8C-83A1-F6EECF244321}">
                <p14:modId xmlns:p14="http://schemas.microsoft.com/office/powerpoint/2010/main" val="1637519227"/>
              </p:ext>
            </p:extLst>
          </p:nvPr>
        </p:nvGraphicFramePr>
        <p:xfrm>
          <a:off x="616902" y="1482032"/>
          <a:ext cx="3456305" cy="4093464"/>
        </p:xfrm>
        <a:graphic>
          <a:graphicData uri="http://schemas.openxmlformats.org/drawingml/2006/table">
            <a:tbl>
              <a:tblPr/>
              <a:tblGrid>
                <a:gridCol w="1022350">
                  <a:extLst>
                    <a:ext uri="{9D8B030D-6E8A-4147-A177-3AD203B41FA5}">
                      <a16:colId xmlns:a16="http://schemas.microsoft.com/office/drawing/2014/main" val="831276472"/>
                    </a:ext>
                  </a:extLst>
                </a:gridCol>
                <a:gridCol w="1022350">
                  <a:extLst>
                    <a:ext uri="{9D8B030D-6E8A-4147-A177-3AD203B41FA5}">
                      <a16:colId xmlns:a16="http://schemas.microsoft.com/office/drawing/2014/main" val="1240328215"/>
                    </a:ext>
                  </a:extLst>
                </a:gridCol>
                <a:gridCol w="470535">
                  <a:extLst>
                    <a:ext uri="{9D8B030D-6E8A-4147-A177-3AD203B41FA5}">
                      <a16:colId xmlns:a16="http://schemas.microsoft.com/office/drawing/2014/main" val="2193687283"/>
                    </a:ext>
                  </a:extLst>
                </a:gridCol>
                <a:gridCol w="470535">
                  <a:extLst>
                    <a:ext uri="{9D8B030D-6E8A-4147-A177-3AD203B41FA5}">
                      <a16:colId xmlns:a16="http://schemas.microsoft.com/office/drawing/2014/main" val="561792643"/>
                    </a:ext>
                  </a:extLst>
                </a:gridCol>
                <a:gridCol w="470535">
                  <a:extLst>
                    <a:ext uri="{9D8B030D-6E8A-4147-A177-3AD203B41FA5}">
                      <a16:colId xmlns:a16="http://schemas.microsoft.com/office/drawing/2014/main" val="2144317357"/>
                    </a:ext>
                  </a:extLst>
                </a:gridCol>
              </a:tblGrid>
              <a:tr h="130175">
                <a:tc>
                  <a:txBody>
                    <a:bodyPr/>
                    <a:lstStyle/>
                    <a:p>
                      <a:pPr marL="0" marR="0" indent="0" algn="ctr" fontAlgn="base" latinLnBrk="0">
                        <a:lnSpc>
                          <a:spcPct val="100000"/>
                        </a:lnSpc>
                        <a:spcBef>
                          <a:spcPts val="0"/>
                        </a:spcBef>
                        <a:spcAft>
                          <a:spcPts val="0"/>
                        </a:spcAft>
                      </a:pPr>
                      <a:r>
                        <a:rPr lang="en-US" sz="750" b="1" kern="0" spc="0">
                          <a:solidFill>
                            <a:srgbClr val="000000"/>
                          </a:solidFill>
                          <a:effectLst/>
                          <a:latin typeface="Haansoft Batang"/>
                          <a:ea typeface="Haansoft Batang"/>
                        </a:rPr>
                        <a:t>Region</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750" b="1" kern="0" spc="0">
                          <a:solidFill>
                            <a:srgbClr val="000000"/>
                          </a:solidFill>
                          <a:effectLst/>
                          <a:latin typeface="Haansoft Batang"/>
                          <a:ea typeface="Haansoft Batang"/>
                        </a:rPr>
                        <a:t>Model</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750" b="1" kern="0" spc="0">
                          <a:solidFill>
                            <a:srgbClr val="000000"/>
                          </a:solidFill>
                          <a:effectLst/>
                          <a:latin typeface="Haansoft Batang"/>
                          <a:ea typeface="Haansoft Batang"/>
                        </a:rPr>
                        <a:t>MSE</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750" b="1" kern="0" spc="0">
                          <a:solidFill>
                            <a:srgbClr val="000000"/>
                          </a:solidFill>
                          <a:effectLst/>
                          <a:latin typeface="Haansoft Batang"/>
                          <a:ea typeface="Haansoft Batang"/>
                        </a:rPr>
                        <a:t>MAE</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750" b="1" kern="0" spc="0">
                          <a:solidFill>
                            <a:srgbClr val="000000"/>
                          </a:solidFill>
                          <a:effectLst/>
                          <a:latin typeface="Haansoft Batang"/>
                          <a:ea typeface="Haansoft Batang"/>
                        </a:rPr>
                        <a:t>R2 Score</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1572458746"/>
                  </a:ext>
                </a:extLst>
              </a:tr>
              <a:tr h="130175">
                <a:tc rowSpan="5">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Busan</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0.0135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0.0556</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0.9574</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929434077"/>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0.0146</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0.0564</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0.9513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2822359422"/>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Stacked 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0.014</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0.0553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0.9560</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2777287857"/>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RNN</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0.0225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0.1007</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0.9178</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1459607556"/>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GRU</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0.0171</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0.0656</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0.9459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744897101"/>
                  </a:ext>
                </a:extLst>
              </a:tr>
              <a:tr h="130175">
                <a:tc rowSpan="5">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Seoul</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0.0086</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0.055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0.9256</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3386240959"/>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0.009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0.0529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0.9386</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4132184732"/>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Stacked 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0.0076</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0.0385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0.9462</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420695438"/>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RNN</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0.0161</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0.0759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0.8966</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82451896"/>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GRU</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0.0085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0.0479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0.9361</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427214644"/>
                  </a:ext>
                </a:extLst>
              </a:tr>
              <a:tr h="130175">
                <a:tc rowSpan="5">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Gyeonggi</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0.0063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0.0406</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0.9527</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3001377910"/>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0.007</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0.0434</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0.9488</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2485204263"/>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Stacked 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0.0062</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0.0419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0.9433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1264751278"/>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RNN</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0.0096</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0.0672</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0.8978</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158965506"/>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GRU</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0.0058</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0.0384</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0.9503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4125685254"/>
                  </a:ext>
                </a:extLst>
              </a:tr>
              <a:tr h="130175">
                <a:tc rowSpan="5">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Gangwon</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0.0145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0.0599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0.9465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3583564557"/>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0.0178</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0.0663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0.9246</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4079195989"/>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Stacked 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0.0125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0.0491</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0.9534</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833633329"/>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RNN</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0.0159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0.0661</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0.9389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3450175145"/>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GRU</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0.0143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0.0593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0.9466</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85528460"/>
                  </a:ext>
                </a:extLst>
              </a:tr>
              <a:tr h="130175">
                <a:tc rowSpan="5">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Daejon</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0.0127</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0.0593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0.9215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4214430271"/>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0.0127</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0.0596</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0.9333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724118488"/>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Stacked 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0.0118</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0.0584</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0.9282</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1109301806"/>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RNN</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0.0169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0.0756</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0.8798</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3114773551"/>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GRU</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0.0129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0.0589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dirty="0">
                          <a:solidFill>
                            <a:srgbClr val="000000"/>
                          </a:solidFill>
                          <a:effectLst/>
                          <a:latin typeface="Haansoft Batang"/>
                          <a:ea typeface="Haansoft Batang"/>
                        </a:rPr>
                        <a:t>0.9293</a:t>
                      </a:r>
                      <a:endParaRPr lang="en-US" sz="1000" kern="100" spc="0" dirty="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820183060"/>
                  </a:ext>
                </a:extLst>
              </a:tr>
            </a:tbl>
          </a:graphicData>
        </a:graphic>
      </p:graphicFrame>
      <p:sp>
        <p:nvSpPr>
          <p:cNvPr id="5" name="Rectangle 2">
            <a:extLst>
              <a:ext uri="{FF2B5EF4-FFF2-40B4-BE49-F238E27FC236}">
                <a16:creationId xmlns:a16="http://schemas.microsoft.com/office/drawing/2014/main" id="{FA666551-02EB-4F5B-0B7E-5F56AEE41700}"/>
              </a:ext>
            </a:extLst>
          </p:cNvPr>
          <p:cNvSpPr>
            <a:spLocks noChangeArrowheads="1"/>
          </p:cNvSpPr>
          <p:nvPr/>
        </p:nvSpPr>
        <p:spPr bwMode="auto">
          <a:xfrm>
            <a:off x="4367213" y="19542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Table 6">
            <a:extLst>
              <a:ext uri="{FF2B5EF4-FFF2-40B4-BE49-F238E27FC236}">
                <a16:creationId xmlns:a16="http://schemas.microsoft.com/office/drawing/2014/main" id="{692E20E7-EC9E-EABE-5C2B-140A9623AE30}"/>
              </a:ext>
            </a:extLst>
          </p:cNvPr>
          <p:cNvGraphicFramePr>
            <a:graphicFrameLocks noGrp="1"/>
          </p:cNvGraphicFramePr>
          <p:nvPr>
            <p:extLst>
              <p:ext uri="{D42A27DB-BD31-4B8C-83A1-F6EECF244321}">
                <p14:modId xmlns:p14="http://schemas.microsoft.com/office/powerpoint/2010/main" val="1305928900"/>
              </p:ext>
            </p:extLst>
          </p:nvPr>
        </p:nvGraphicFramePr>
        <p:xfrm>
          <a:off x="4262440" y="1493145"/>
          <a:ext cx="3456305" cy="3943350"/>
        </p:xfrm>
        <a:graphic>
          <a:graphicData uri="http://schemas.openxmlformats.org/drawingml/2006/table">
            <a:tbl>
              <a:tblPr/>
              <a:tblGrid>
                <a:gridCol w="1022350">
                  <a:extLst>
                    <a:ext uri="{9D8B030D-6E8A-4147-A177-3AD203B41FA5}">
                      <a16:colId xmlns:a16="http://schemas.microsoft.com/office/drawing/2014/main" val="2070855444"/>
                    </a:ext>
                  </a:extLst>
                </a:gridCol>
                <a:gridCol w="1022350">
                  <a:extLst>
                    <a:ext uri="{9D8B030D-6E8A-4147-A177-3AD203B41FA5}">
                      <a16:colId xmlns:a16="http://schemas.microsoft.com/office/drawing/2014/main" val="3603291481"/>
                    </a:ext>
                  </a:extLst>
                </a:gridCol>
                <a:gridCol w="470535">
                  <a:extLst>
                    <a:ext uri="{9D8B030D-6E8A-4147-A177-3AD203B41FA5}">
                      <a16:colId xmlns:a16="http://schemas.microsoft.com/office/drawing/2014/main" val="439090004"/>
                    </a:ext>
                  </a:extLst>
                </a:gridCol>
                <a:gridCol w="470535">
                  <a:extLst>
                    <a:ext uri="{9D8B030D-6E8A-4147-A177-3AD203B41FA5}">
                      <a16:colId xmlns:a16="http://schemas.microsoft.com/office/drawing/2014/main" val="247820009"/>
                    </a:ext>
                  </a:extLst>
                </a:gridCol>
                <a:gridCol w="470535">
                  <a:extLst>
                    <a:ext uri="{9D8B030D-6E8A-4147-A177-3AD203B41FA5}">
                      <a16:colId xmlns:a16="http://schemas.microsoft.com/office/drawing/2014/main" val="962110434"/>
                    </a:ext>
                  </a:extLst>
                </a:gridCol>
              </a:tblGrid>
              <a:tr h="130175">
                <a:tc rowSpan="5">
                  <a:txBody>
                    <a:bodyPr/>
                    <a:lstStyle/>
                    <a:p>
                      <a:pPr marL="0" marR="0" indent="0" algn="ctr" fontAlgn="base" latinLnBrk="0">
                        <a:lnSpc>
                          <a:spcPct val="100000"/>
                        </a:lnSpc>
                        <a:spcBef>
                          <a:spcPts val="0"/>
                        </a:spcBef>
                        <a:spcAft>
                          <a:spcPts val="0"/>
                        </a:spcAft>
                      </a:pPr>
                      <a:r>
                        <a:rPr lang="en-US" sz="800" kern="0" spc="0" dirty="0" err="1">
                          <a:solidFill>
                            <a:srgbClr val="000000"/>
                          </a:solidFill>
                          <a:effectLst/>
                          <a:latin typeface="Haansoft Batang"/>
                          <a:ea typeface="Haansoft Batang"/>
                        </a:rPr>
                        <a:t>Gyeongnam</a:t>
                      </a:r>
                      <a:endParaRPr lang="en-US" sz="1000" kern="100" spc="0" dirty="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0.0109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0.0543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0.939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1990366194"/>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0.0104</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0.0484</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0.9459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2244651991"/>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Stacked 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0.0593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0.9162</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4129332935"/>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RNN</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0.0121</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0.0653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0.9269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2935674172"/>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GRU</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0.0111</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0.0548</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0.9345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1259220082"/>
                  </a:ext>
                </a:extLst>
              </a:tr>
              <a:tr h="130175">
                <a:tc rowSpan="5">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Jeonbuk</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0.0161</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0.0618</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0.9352</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1649418701"/>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0.0155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0.0587</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0.9394</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1365062528"/>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Stacked 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0.0153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0.0558</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0.9423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4251312127"/>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RNN</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0.0753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0.9217</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1367893534"/>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GRU</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0.0161</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0.0635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0.939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1999926180"/>
                  </a:ext>
                </a:extLst>
              </a:tr>
              <a:tr h="130175">
                <a:tc rowSpan="5">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Sejong</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0.0159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0.0642</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0.9409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939951516"/>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0.0155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0.0623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0.9442</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3246450486"/>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Stacked 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0.0148</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0.0573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0.9471</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3954049055"/>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RNN</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0.0217</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0.0788</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0.9167</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1101322296"/>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GRU</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0.0157</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0.0633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0.9463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1743525866"/>
                  </a:ext>
                </a:extLst>
              </a:tr>
              <a:tr h="130175">
                <a:tc rowSpan="5">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Chungbuk</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0.0181</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0.0714</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0.885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2552536262"/>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0.0182</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0.0678</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0.8867</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2102548405"/>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Stacked 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0.0176</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0.0598</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0.8982</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516652806"/>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RNN</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0.0242</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0.0815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0.8254</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1220145931"/>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GRU</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0.0185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0.0695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0.8869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2936256454"/>
                  </a:ext>
                </a:extLst>
              </a:tr>
              <a:tr h="130175">
                <a:tc rowSpan="5">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Chungnam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0.0099</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0.0498</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0.945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3729970335"/>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0.0095</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0.0478</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0.9453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2200603985"/>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Stacked Bi-LSTM</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0.0092</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0.0441</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b="1" kern="0" spc="0">
                          <a:solidFill>
                            <a:srgbClr val="000000"/>
                          </a:solidFill>
                          <a:effectLst/>
                          <a:latin typeface="Haansoft Batang"/>
                          <a:ea typeface="Haansoft Batang"/>
                        </a:rPr>
                        <a:t>0.9507</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3392194125"/>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RNN</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0.0113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0.06</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0.9413</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114669533"/>
                  </a:ext>
                </a:extLst>
              </a:tr>
              <a:tr h="130175">
                <a:tc vMerge="1">
                  <a:txBody>
                    <a:bodyPr/>
                    <a:lstStyle/>
                    <a:p>
                      <a:endParaRPr lang="en-US"/>
                    </a:p>
                  </a:txBody>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GRU</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0.0104</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a:solidFill>
                            <a:srgbClr val="000000"/>
                          </a:solidFill>
                          <a:effectLst/>
                          <a:latin typeface="Haansoft Batang"/>
                          <a:ea typeface="Haansoft Batang"/>
                        </a:rPr>
                        <a:t>0.0576</a:t>
                      </a:r>
                      <a:endParaRPr lang="en-US" sz="1000" kern="100" spc="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tc>
                  <a:txBody>
                    <a:bodyPr/>
                    <a:lstStyle/>
                    <a:p>
                      <a:pPr marL="0" marR="0" indent="0" algn="ctr" fontAlgn="base" latinLnBrk="0">
                        <a:lnSpc>
                          <a:spcPct val="100000"/>
                        </a:lnSpc>
                        <a:spcBef>
                          <a:spcPts val="0"/>
                        </a:spcBef>
                        <a:spcAft>
                          <a:spcPts val="0"/>
                        </a:spcAft>
                      </a:pPr>
                      <a:r>
                        <a:rPr lang="en-US" sz="800" kern="0" spc="0" dirty="0">
                          <a:solidFill>
                            <a:srgbClr val="000000"/>
                          </a:solidFill>
                          <a:effectLst/>
                          <a:latin typeface="Haansoft Batang"/>
                          <a:ea typeface="Haansoft Batang"/>
                        </a:rPr>
                        <a:t>0.9368</a:t>
                      </a:r>
                      <a:endParaRPr lang="en-US" sz="1000" kern="100" spc="0" dirty="0">
                        <a:solidFill>
                          <a:srgbClr val="000000"/>
                        </a:solidFill>
                        <a:effectLst/>
                        <a:latin typeface="Times New Roman" panose="02020603050405020304" pitchFamily="18" charset="0"/>
                      </a:endParaRPr>
                    </a:p>
                  </a:txBody>
                  <a:tcPr marL="64770" marR="64770" marT="17907" marB="17907" anchor="ctr">
                    <a:lnL w="7112" cap="flat" cmpd="sng" algn="ctr">
                      <a:solidFill>
                        <a:srgbClr val="0A0000"/>
                      </a:solidFill>
                      <a:prstDash val="solid"/>
                      <a:round/>
                      <a:headEnd type="none" w="med" len="med"/>
                      <a:tailEnd type="none" w="med" len="med"/>
                    </a:lnL>
                    <a:lnR w="7112" cap="flat" cmpd="sng" algn="ctr">
                      <a:solidFill>
                        <a:srgbClr val="0A0000"/>
                      </a:solidFill>
                      <a:prstDash val="solid"/>
                      <a:round/>
                      <a:headEnd type="none" w="med" len="med"/>
                      <a:tailEnd type="none" w="med" len="med"/>
                    </a:lnR>
                    <a:lnT w="7112" cap="flat" cmpd="sng" algn="ctr">
                      <a:solidFill>
                        <a:srgbClr val="0A0000"/>
                      </a:solidFill>
                      <a:prstDash val="solid"/>
                      <a:round/>
                      <a:headEnd type="none" w="med" len="med"/>
                      <a:tailEnd type="none" w="med" len="med"/>
                    </a:lnT>
                    <a:lnB w="7112" cap="flat" cmpd="sng" algn="ctr">
                      <a:solidFill>
                        <a:srgbClr val="0A0000"/>
                      </a:solidFill>
                      <a:prstDash val="solid"/>
                      <a:round/>
                      <a:headEnd type="none" w="med" len="med"/>
                      <a:tailEnd type="none" w="med" len="med"/>
                    </a:lnB>
                    <a:solidFill>
                      <a:srgbClr val="FFFFFF"/>
                    </a:solidFill>
                  </a:tcPr>
                </a:tc>
                <a:extLst>
                  <a:ext uri="{0D108BD9-81ED-4DB2-BD59-A6C34878D82A}">
                    <a16:rowId xmlns:a16="http://schemas.microsoft.com/office/drawing/2014/main" val="3711630787"/>
                  </a:ext>
                </a:extLst>
              </a:tr>
            </a:tbl>
          </a:graphicData>
        </a:graphic>
      </p:graphicFrame>
      <p:sp>
        <p:nvSpPr>
          <p:cNvPr id="9" name="Rectangle 3">
            <a:extLst>
              <a:ext uri="{FF2B5EF4-FFF2-40B4-BE49-F238E27FC236}">
                <a16:creationId xmlns:a16="http://schemas.microsoft.com/office/drawing/2014/main" id="{BD9D6C7F-233F-B120-E562-AAE2D7892EAA}"/>
              </a:ext>
            </a:extLst>
          </p:cNvPr>
          <p:cNvSpPr>
            <a:spLocks noChangeArrowheads="1"/>
          </p:cNvSpPr>
          <p:nvPr/>
        </p:nvSpPr>
        <p:spPr bwMode="auto">
          <a:xfrm>
            <a:off x="4367213" y="20304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TextBox 21">
            <a:extLst>
              <a:ext uri="{FF2B5EF4-FFF2-40B4-BE49-F238E27FC236}">
                <a16:creationId xmlns:a16="http://schemas.microsoft.com/office/drawing/2014/main" id="{A34DBE28-6C3D-9CFD-EB5D-7436CB54F8B9}"/>
              </a:ext>
            </a:extLst>
          </p:cNvPr>
          <p:cNvSpPr txBox="1"/>
          <p:nvPr/>
        </p:nvSpPr>
        <p:spPr>
          <a:xfrm>
            <a:off x="7907978" y="1507060"/>
            <a:ext cx="3445822" cy="4328429"/>
          </a:xfrm>
          <a:prstGeom prst="rect">
            <a:avLst/>
          </a:prstGeom>
          <a:noFill/>
        </p:spPr>
        <p:txBody>
          <a:bodyPr wrap="square">
            <a:spAutoFit/>
          </a:bodyPr>
          <a:lstStyle/>
          <a:p>
            <a:pPr marL="0" marR="0" indent="194310" algn="just" fontAlgn="base" latinLnBrk="1">
              <a:lnSpc>
                <a:spcPct val="158000"/>
              </a:lnSpc>
              <a:spcBef>
                <a:spcPts val="0"/>
              </a:spcBef>
              <a:spcAft>
                <a:spcPts val="0"/>
              </a:spcAft>
            </a:pPr>
            <a:r>
              <a:rPr lang="en-US" sz="1600" kern="0" spc="-50" dirty="0">
                <a:solidFill>
                  <a:srgbClr val="000000"/>
                </a:solidFill>
                <a:effectLst/>
                <a:latin typeface="한양신명조"/>
                <a:ea typeface="한양신명조"/>
              </a:rPr>
              <a:t>The predictions made by five deep learning models and ten regions are displayed in Table 1. The table indicates that the stacked </a:t>
            </a:r>
            <a:r>
              <a:rPr lang="en-US" sz="1600" kern="0" spc="-50" dirty="0" err="1">
                <a:solidFill>
                  <a:srgbClr val="000000"/>
                </a:solidFill>
                <a:effectLst/>
                <a:latin typeface="한양신명조"/>
                <a:ea typeface="한양신명조"/>
              </a:rPr>
              <a:t>BiLSTM</a:t>
            </a:r>
            <a:r>
              <a:rPr lang="en-US" sz="1600" kern="0" spc="-50" dirty="0">
                <a:solidFill>
                  <a:srgbClr val="000000"/>
                </a:solidFill>
                <a:effectLst/>
                <a:latin typeface="한양신명조"/>
                <a:ea typeface="한양신명조"/>
              </a:rPr>
              <a:t> achieves the best performance in all regions. GRU is the second-best model for deep learning, followed by </a:t>
            </a:r>
            <a:r>
              <a:rPr lang="en-US" sz="1600" kern="0" spc="-50" dirty="0" err="1">
                <a:solidFill>
                  <a:srgbClr val="000000"/>
                </a:solidFill>
                <a:effectLst/>
                <a:latin typeface="한양신명조"/>
                <a:ea typeface="한양신명조"/>
              </a:rPr>
              <a:t>BiLSTM</a:t>
            </a:r>
            <a:r>
              <a:rPr lang="en-US" sz="1600" kern="0" spc="-50" dirty="0">
                <a:solidFill>
                  <a:srgbClr val="000000"/>
                </a:solidFill>
                <a:effectLst/>
                <a:latin typeface="한양신명조"/>
                <a:ea typeface="한양신명조"/>
              </a:rPr>
              <a:t>, LSTM, and RNN. Compared to other deep learning models, the stacked </a:t>
            </a:r>
            <a:r>
              <a:rPr lang="en-US" sz="1600" kern="0" spc="-50" dirty="0" err="1">
                <a:solidFill>
                  <a:srgbClr val="000000"/>
                </a:solidFill>
                <a:effectLst/>
                <a:latin typeface="한양신명조"/>
                <a:ea typeface="한양신명조"/>
              </a:rPr>
              <a:t>BiLSTM</a:t>
            </a:r>
            <a:r>
              <a:rPr lang="en-US" sz="1600" kern="0" spc="-50" dirty="0">
                <a:solidFill>
                  <a:srgbClr val="000000"/>
                </a:solidFill>
                <a:effectLst/>
                <a:latin typeface="한양신명조"/>
                <a:ea typeface="한양신명조"/>
              </a:rPr>
              <a:t> has the highest performance because of its architecture, which consists of many layers of </a:t>
            </a:r>
            <a:r>
              <a:rPr lang="en-US" sz="1600" kern="0" spc="-50" dirty="0" err="1">
                <a:solidFill>
                  <a:srgbClr val="000000"/>
                </a:solidFill>
                <a:effectLst/>
                <a:latin typeface="한양신명조"/>
                <a:ea typeface="한양신명조"/>
              </a:rPr>
              <a:t>BiLSTM</a:t>
            </a:r>
            <a:r>
              <a:rPr lang="en-US" sz="1600" kern="0" spc="-50" dirty="0">
                <a:solidFill>
                  <a:srgbClr val="000000"/>
                </a:solidFill>
                <a:effectLst/>
                <a:latin typeface="한양신명조"/>
                <a:ea typeface="한양신명조"/>
              </a:rPr>
              <a:t>.</a:t>
            </a:r>
            <a:endParaRPr lang="en-US" kern="0" dirty="0">
              <a:solidFill>
                <a:srgbClr val="000000"/>
              </a:solidFill>
              <a:effectLst/>
              <a:latin typeface="한양신명조"/>
            </a:endParaRPr>
          </a:p>
        </p:txBody>
      </p:sp>
    </p:spTree>
    <p:extLst>
      <p:ext uri="{BB962C8B-B14F-4D97-AF65-F5344CB8AC3E}">
        <p14:creationId xmlns:p14="http://schemas.microsoft.com/office/powerpoint/2010/main" val="592726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73637319-FDAF-9F52-B0F5-9D9918AE639F}"/>
              </a:ext>
            </a:extLst>
          </p:cNvPr>
          <p:cNvSpPr>
            <a:spLocks noGrp="1"/>
          </p:cNvSpPr>
          <p:nvPr>
            <p:ph type="sldNum" sz="quarter" idx="12"/>
          </p:nvPr>
        </p:nvSpPr>
        <p:spPr/>
        <p:txBody>
          <a:bodyPr/>
          <a:lstStyle/>
          <a:p>
            <a:fld id="{3FE5B538-B59D-40BE-A71D-808D1A583C60}" type="slidenum">
              <a:rPr lang="en-US" smtClean="0"/>
              <a:t>13</a:t>
            </a:fld>
            <a:endParaRPr lang="en-US"/>
          </a:p>
        </p:txBody>
      </p:sp>
      <p:pic>
        <p:nvPicPr>
          <p:cNvPr id="16" name="그림 6" descr="텍스트이(가) 표시된 사진&#10;&#10;자동 생성된 설명">
            <a:extLst>
              <a:ext uri="{FF2B5EF4-FFF2-40B4-BE49-F238E27FC236}">
                <a16:creationId xmlns:a16="http://schemas.microsoft.com/office/drawing/2014/main" id="{ED867D5B-8768-2D82-ABE1-155266002A60}"/>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17" name="Title 1">
            <a:extLst>
              <a:ext uri="{FF2B5EF4-FFF2-40B4-BE49-F238E27FC236}">
                <a16:creationId xmlns:a16="http://schemas.microsoft.com/office/drawing/2014/main" id="{2DA95272-8246-49E4-A3DE-6D5D34D32C20}"/>
              </a:ext>
            </a:extLst>
          </p:cNvPr>
          <p:cNvSpPr txBox="1">
            <a:spLocks/>
          </p:cNvSpPr>
          <p:nvPr/>
        </p:nvSpPr>
        <p:spPr bwMode="auto">
          <a:xfrm>
            <a:off x="1031846" y="88874"/>
            <a:ext cx="938671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Result and Discussion</a:t>
            </a:r>
            <a:endParaRPr lang="en-US" sz="1100" kern="0" dirty="0"/>
          </a:p>
        </p:txBody>
      </p:sp>
      <p:cxnSp>
        <p:nvCxnSpPr>
          <p:cNvPr id="18" name="Straight Connector 17">
            <a:extLst>
              <a:ext uri="{FF2B5EF4-FFF2-40B4-BE49-F238E27FC236}">
                <a16:creationId xmlns:a16="http://schemas.microsoft.com/office/drawing/2014/main" id="{16E8FDFF-25E3-C9FC-AEB7-C7EFE2318F51}"/>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7B89C91-9823-0AC9-8577-E87D2F10392B}"/>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BEEDA346-72FF-E7D7-E3F3-672EE1F0F6EE}"/>
              </a:ext>
            </a:extLst>
          </p:cNvPr>
          <p:cNvPicPr>
            <a:picLocks noChangeAspect="1"/>
          </p:cNvPicPr>
          <p:nvPr/>
        </p:nvPicPr>
        <p:blipFill>
          <a:blip r:embed="rId3"/>
          <a:stretch>
            <a:fillRect/>
          </a:stretch>
        </p:blipFill>
        <p:spPr>
          <a:xfrm>
            <a:off x="3228422" y="1460521"/>
            <a:ext cx="5382178" cy="3525897"/>
          </a:xfrm>
          <a:prstGeom prst="rect">
            <a:avLst/>
          </a:prstGeom>
        </p:spPr>
      </p:pic>
      <p:sp>
        <p:nvSpPr>
          <p:cNvPr id="6" name="Rectangle 4">
            <a:extLst>
              <a:ext uri="{FF2B5EF4-FFF2-40B4-BE49-F238E27FC236}">
                <a16:creationId xmlns:a16="http://schemas.microsoft.com/office/drawing/2014/main" id="{48921ED9-D94D-327A-AF04-87BB7E85B2F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TextBox 9">
            <a:extLst>
              <a:ext uri="{FF2B5EF4-FFF2-40B4-BE49-F238E27FC236}">
                <a16:creationId xmlns:a16="http://schemas.microsoft.com/office/drawing/2014/main" id="{1E4D6927-45AF-DEB2-42A1-EF5198AD7CF1}"/>
              </a:ext>
            </a:extLst>
          </p:cNvPr>
          <p:cNvSpPr txBox="1"/>
          <p:nvPr/>
        </p:nvSpPr>
        <p:spPr>
          <a:xfrm>
            <a:off x="448141" y="5255530"/>
            <a:ext cx="10942739" cy="338554"/>
          </a:xfrm>
          <a:prstGeom prst="rect">
            <a:avLst/>
          </a:prstGeom>
          <a:noFill/>
        </p:spPr>
        <p:txBody>
          <a:bodyPr wrap="square" rtlCol="0">
            <a:spAutoFit/>
          </a:bodyPr>
          <a:lstStyle/>
          <a:p>
            <a:pPr algn="ctr"/>
            <a:r>
              <a:rPr lang="en-US" sz="1600" kern="0" dirty="0">
                <a:solidFill>
                  <a:srgbClr val="000000"/>
                </a:solidFill>
                <a:effectLst/>
                <a:latin typeface="한양신명조"/>
              </a:rPr>
              <a:t>Prediction Model vs Actual Data</a:t>
            </a:r>
          </a:p>
        </p:txBody>
      </p:sp>
    </p:spTree>
    <p:extLst>
      <p:ext uri="{BB962C8B-B14F-4D97-AF65-F5344CB8AC3E}">
        <p14:creationId xmlns:p14="http://schemas.microsoft.com/office/powerpoint/2010/main" val="4080101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B1882C-7C2E-2CA5-093E-E9857109661A}"/>
              </a:ext>
            </a:extLst>
          </p:cNvPr>
          <p:cNvSpPr>
            <a:spLocks noGrp="1"/>
          </p:cNvSpPr>
          <p:nvPr>
            <p:ph idx="1"/>
          </p:nvPr>
        </p:nvSpPr>
        <p:spPr>
          <a:xfrm>
            <a:off x="478172" y="1430841"/>
            <a:ext cx="10875628" cy="4351338"/>
          </a:xfrm>
        </p:spPr>
        <p:txBody>
          <a:bodyPr>
            <a:normAutofit lnSpcReduction="10000"/>
          </a:bodyPr>
          <a:lstStyle/>
          <a:p>
            <a:r>
              <a:rPr lang="en-US" dirty="0"/>
              <a:t>This work provides a comparison model employing 10 data regions in South Korea with fairly decent findings. </a:t>
            </a:r>
          </a:p>
          <a:p>
            <a:pPr marL="0" indent="0">
              <a:buNone/>
            </a:pPr>
            <a:endParaRPr lang="en-US" dirty="0"/>
          </a:p>
          <a:p>
            <a:r>
              <a:rPr lang="en-US" dirty="0"/>
              <a:t>Stacked Bi-LSTM with a single dense layer achieves excellent performance in eight out of ten regions, particularly in the MSE and MAE performance sections. </a:t>
            </a:r>
          </a:p>
          <a:p>
            <a:pPr marL="0" indent="0">
              <a:buNone/>
            </a:pPr>
            <a:endParaRPr lang="en-US" dirty="0"/>
          </a:p>
          <a:p>
            <a:r>
              <a:rPr lang="en-US" dirty="0"/>
              <a:t>In the future, we will investigate offering a technique that uses spatial-temporal analysis to produce new predictions using only data from the closest city.</a:t>
            </a:r>
          </a:p>
        </p:txBody>
      </p:sp>
      <p:sp>
        <p:nvSpPr>
          <p:cNvPr id="6" name="Slide Number Placeholder 5">
            <a:extLst>
              <a:ext uri="{FF2B5EF4-FFF2-40B4-BE49-F238E27FC236}">
                <a16:creationId xmlns:a16="http://schemas.microsoft.com/office/drawing/2014/main" id="{F6AF8F0F-3A2F-9BF2-489A-3F1E51030A30}"/>
              </a:ext>
            </a:extLst>
          </p:cNvPr>
          <p:cNvSpPr>
            <a:spLocks noGrp="1"/>
          </p:cNvSpPr>
          <p:nvPr>
            <p:ph type="sldNum" sz="quarter" idx="12"/>
          </p:nvPr>
        </p:nvSpPr>
        <p:spPr/>
        <p:txBody>
          <a:bodyPr/>
          <a:lstStyle/>
          <a:p>
            <a:fld id="{3FE5B538-B59D-40BE-A71D-808D1A583C60}" type="slidenum">
              <a:rPr lang="en-US" smtClean="0"/>
              <a:t>14</a:t>
            </a:fld>
            <a:endParaRPr lang="en-US"/>
          </a:p>
        </p:txBody>
      </p:sp>
      <p:pic>
        <p:nvPicPr>
          <p:cNvPr id="7" name="그림 6" descr="텍스트이(가) 표시된 사진&#10;&#10;자동 생성된 설명">
            <a:extLst>
              <a:ext uri="{FF2B5EF4-FFF2-40B4-BE49-F238E27FC236}">
                <a16:creationId xmlns:a16="http://schemas.microsoft.com/office/drawing/2014/main" id="{33C9A731-3CD4-8AB0-0AC6-C4EDFA99E771}"/>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8" name="Title 1">
            <a:extLst>
              <a:ext uri="{FF2B5EF4-FFF2-40B4-BE49-F238E27FC236}">
                <a16:creationId xmlns:a16="http://schemas.microsoft.com/office/drawing/2014/main" id="{696140AC-DDA1-1976-D052-A73E31A06C28}"/>
              </a:ext>
            </a:extLst>
          </p:cNvPr>
          <p:cNvSpPr txBox="1">
            <a:spLocks/>
          </p:cNvSpPr>
          <p:nvPr/>
        </p:nvSpPr>
        <p:spPr bwMode="auto">
          <a:xfrm>
            <a:off x="1031846" y="88874"/>
            <a:ext cx="938671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Conclusions</a:t>
            </a:r>
            <a:endParaRPr lang="en-US" sz="1100" kern="0" dirty="0"/>
          </a:p>
        </p:txBody>
      </p:sp>
      <p:cxnSp>
        <p:nvCxnSpPr>
          <p:cNvPr id="9" name="Straight Connector 8">
            <a:extLst>
              <a:ext uri="{FF2B5EF4-FFF2-40B4-BE49-F238E27FC236}">
                <a16:creationId xmlns:a16="http://schemas.microsoft.com/office/drawing/2014/main" id="{97310293-1AB2-2618-9778-DCB0CE803A44}"/>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F14AD2A-B4A7-E01B-9B88-1CB0C2DA0836}"/>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4105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11092A-2D5B-BB78-7468-515CD1151653}"/>
              </a:ext>
            </a:extLst>
          </p:cNvPr>
          <p:cNvSpPr>
            <a:spLocks noGrp="1"/>
          </p:cNvSpPr>
          <p:nvPr>
            <p:ph idx="1"/>
          </p:nvPr>
        </p:nvSpPr>
        <p:spPr>
          <a:xfrm>
            <a:off x="467402" y="2415608"/>
            <a:ext cx="10515600" cy="2026784"/>
          </a:xfrm>
        </p:spPr>
        <p:txBody>
          <a:bodyPr>
            <a:normAutofit fontScale="92500"/>
          </a:bodyPr>
          <a:lstStyle/>
          <a:p>
            <a:pPr marL="0" indent="0" algn="ctr">
              <a:buNone/>
            </a:pPr>
            <a:r>
              <a:rPr lang="en-US" dirty="0"/>
              <a:t>This work was partly supported by the Technology Development Program of MSS (S3098815) and the MSIT (Ministry of Science and ICT), Korea, under the ITRC(Information Technology Research Center) support program (IITP-2022-2018-0-01396) supervised by the IITP(Institute for Information &amp; Communications Technology Planning &amp; Evaluation).</a:t>
            </a:r>
          </a:p>
        </p:txBody>
      </p:sp>
      <p:sp>
        <p:nvSpPr>
          <p:cNvPr id="6" name="Slide Number Placeholder 5">
            <a:extLst>
              <a:ext uri="{FF2B5EF4-FFF2-40B4-BE49-F238E27FC236}">
                <a16:creationId xmlns:a16="http://schemas.microsoft.com/office/drawing/2014/main" id="{4A5C1536-BB2D-A8A8-8E2F-6A3B7F913346}"/>
              </a:ext>
            </a:extLst>
          </p:cNvPr>
          <p:cNvSpPr>
            <a:spLocks noGrp="1"/>
          </p:cNvSpPr>
          <p:nvPr>
            <p:ph type="sldNum" sz="quarter" idx="12"/>
          </p:nvPr>
        </p:nvSpPr>
        <p:spPr/>
        <p:txBody>
          <a:bodyPr/>
          <a:lstStyle/>
          <a:p>
            <a:fld id="{3FE5B538-B59D-40BE-A71D-808D1A583C60}" type="slidenum">
              <a:rPr lang="en-US" smtClean="0"/>
              <a:t>15</a:t>
            </a:fld>
            <a:endParaRPr lang="en-US"/>
          </a:p>
        </p:txBody>
      </p:sp>
      <p:pic>
        <p:nvPicPr>
          <p:cNvPr id="7" name="그림 6" descr="텍스트이(가) 표시된 사진&#10;&#10;자동 생성된 설명">
            <a:extLst>
              <a:ext uri="{FF2B5EF4-FFF2-40B4-BE49-F238E27FC236}">
                <a16:creationId xmlns:a16="http://schemas.microsoft.com/office/drawing/2014/main" id="{A1E73286-8782-F8FE-D773-FA7B68F845A1}"/>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8" name="Title 1">
            <a:extLst>
              <a:ext uri="{FF2B5EF4-FFF2-40B4-BE49-F238E27FC236}">
                <a16:creationId xmlns:a16="http://schemas.microsoft.com/office/drawing/2014/main" id="{855AEF20-F288-374D-B25A-0CF7D369C6EF}"/>
              </a:ext>
            </a:extLst>
          </p:cNvPr>
          <p:cNvSpPr txBox="1">
            <a:spLocks/>
          </p:cNvSpPr>
          <p:nvPr/>
        </p:nvSpPr>
        <p:spPr bwMode="auto">
          <a:xfrm>
            <a:off x="1031846" y="88874"/>
            <a:ext cx="938671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Acknowledgment</a:t>
            </a:r>
            <a:endParaRPr lang="en-US" sz="1100" kern="0" dirty="0"/>
          </a:p>
        </p:txBody>
      </p:sp>
      <p:cxnSp>
        <p:nvCxnSpPr>
          <p:cNvPr id="9" name="Straight Connector 8">
            <a:extLst>
              <a:ext uri="{FF2B5EF4-FFF2-40B4-BE49-F238E27FC236}">
                <a16:creationId xmlns:a16="http://schemas.microsoft.com/office/drawing/2014/main" id="{DDBC25A3-E4AD-1E8D-B9AB-FE7764BA5263}"/>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1BEB686-91DF-5E4D-F6FF-AC81C92C356D}"/>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5010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513A9-2FD5-8F48-7E99-E6EFCF4D1DE0}"/>
              </a:ext>
            </a:extLst>
          </p:cNvPr>
          <p:cNvSpPr>
            <a:spLocks noGrp="1"/>
          </p:cNvSpPr>
          <p:nvPr>
            <p:ph type="title"/>
          </p:nvPr>
        </p:nvSpPr>
        <p:spPr>
          <a:xfrm>
            <a:off x="838200" y="2456890"/>
            <a:ext cx="10515600" cy="1325563"/>
          </a:xfrm>
        </p:spPr>
        <p:txBody>
          <a:bodyPr/>
          <a:lstStyle/>
          <a:p>
            <a:pPr algn="ctr"/>
            <a:r>
              <a:rPr lang="en-US" dirty="0"/>
              <a:t>Thank you</a:t>
            </a:r>
            <a:endParaRPr lang="en-KR" dirty="0"/>
          </a:p>
        </p:txBody>
      </p:sp>
      <p:sp>
        <p:nvSpPr>
          <p:cNvPr id="4" name="Slide Number Placeholder 3">
            <a:extLst>
              <a:ext uri="{FF2B5EF4-FFF2-40B4-BE49-F238E27FC236}">
                <a16:creationId xmlns:a16="http://schemas.microsoft.com/office/drawing/2014/main" id="{01590DFC-4FF2-FB43-D317-0FA4B5254C3E}"/>
              </a:ext>
            </a:extLst>
          </p:cNvPr>
          <p:cNvSpPr>
            <a:spLocks noGrp="1"/>
          </p:cNvSpPr>
          <p:nvPr>
            <p:ph type="sldNum" sz="quarter" idx="12"/>
          </p:nvPr>
        </p:nvSpPr>
        <p:spPr/>
        <p:txBody>
          <a:bodyPr/>
          <a:lstStyle/>
          <a:p>
            <a:fld id="{3FE5B538-B59D-40BE-A71D-808D1A583C60}" type="slidenum">
              <a:rPr lang="en-US" smtClean="0"/>
              <a:t>16</a:t>
            </a:fld>
            <a:endParaRPr lang="en-US"/>
          </a:p>
        </p:txBody>
      </p:sp>
    </p:spTree>
    <p:extLst>
      <p:ext uri="{BB962C8B-B14F-4D97-AF65-F5344CB8AC3E}">
        <p14:creationId xmlns:p14="http://schemas.microsoft.com/office/powerpoint/2010/main" val="5942922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3329</TotalTime>
  <Words>1069</Words>
  <Application>Microsoft Office PowerPoint</Application>
  <PresentationFormat>Widescreen</PresentationFormat>
  <Paragraphs>307</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Malgun Gothic</vt:lpstr>
      <vt:lpstr>Arial</vt:lpstr>
      <vt:lpstr>Calibri</vt:lpstr>
      <vt:lpstr>Calibri Light</vt:lpstr>
      <vt:lpstr>Haansoft Batang</vt:lpstr>
      <vt:lpstr>Times New Roman</vt:lpstr>
      <vt:lpstr>Wingdings</vt:lpstr>
      <vt:lpstr>한양신명조</vt:lpstr>
      <vt:lpstr>Office Theme</vt:lpstr>
      <vt:lpstr> API Development for Forecasting Solar Power Generation Using Weather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Learning-based Photovoltaic Panels Defect Detection Using Aerial Thermography Imaging</dc:title>
  <dc:creator>라디티오파자르파뭉카(대학원생-전자공학전공)</dc:creator>
  <cp:lastModifiedBy>무하마드미프타파리드(대학원생-전자공학전공)</cp:lastModifiedBy>
  <cp:revision>7</cp:revision>
  <dcterms:created xsi:type="dcterms:W3CDTF">2022-09-26T06:59:13Z</dcterms:created>
  <dcterms:modified xsi:type="dcterms:W3CDTF">2023-04-05T05:56:27Z</dcterms:modified>
</cp:coreProperties>
</file>